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BCE weight α(e)</c:v>
                </c:pt>
              </c:strCache>
            </c:strRef>
          </c:tx>
          <c:spPr>
            <a:ln w="28575">
              <a:solidFill>
                <a:srgbClr val="2A78D6"/>
              </a:solidFill>
            </a:ln>
          </c:spPr>
          <c:marker>
            <c:symbol val="none"/>
          </c:marker>
          <c:cat>
            <c:strRef>
              <c:f>Sheet1!$A$2:$A$62</c:f>
              <c:strCach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strCache>
            </c:strRef>
          </c:cat>
          <c:val>
            <c:numRef>
              <c:f>Sheet1!$B$2:$B$62</c:f>
              <c:numCache>
                <c:formatCode>General</c:formatCode>
                <c:ptCount val="61"/>
                <c:pt idx="0">
                  <c:v>0.5</c:v>
                </c:pt>
                <c:pt idx="1">
                  <c:v>0.44466014094705336</c:v>
                </c:pt>
                <c:pt idx="2">
                  <c:v>0.4217376207875074</c:v>
                </c:pt>
                <c:pt idx="3">
                  <c:v>0.404148552436596</c:v>
                </c:pt>
                <c:pt idx="4">
                  <c:v>0.3893202818941067</c:v>
                </c:pt>
                <c:pt idx="5">
                  <c:v>0.3762563132923542</c:v>
                </c:pt>
                <c:pt idx="6">
                  <c:v>0.3644455828827404</c:v>
                </c:pt>
                <c:pt idx="7">
                  <c:v>0.3535844953565368</c:v>
                </c:pt>
                <c:pt idx="8">
                  <c:v>0.34347524157501474</c:v>
                </c:pt>
                <c:pt idx="9">
                  <c:v>0.33398042284116014</c:v>
                </c:pt>
                <c:pt idx="10">
                  <c:v>0.325</c:v>
                </c:pt>
                <c:pt idx="11">
                  <c:v>0.31645845157022345</c:v>
                </c:pt>
                <c:pt idx="12">
                  <c:v>0.3082971048731919</c:v>
                </c:pt>
                <c:pt idx="13">
                  <c:v>0.30046930060765087</c:v>
                </c:pt>
                <c:pt idx="14">
                  <c:v>0.2929372075915134</c:v>
                </c:pt>
                <c:pt idx="15">
                  <c:v>0.28566964750647195</c:v>
                </c:pt>
                <c:pt idx="16">
                  <c:v>0.27864056378821345</c:v>
                </c:pt>
                <c:pt idx="17">
                  <c:v>0.27182791581790733</c:v>
                </c:pt>
                <c:pt idx="18">
                  <c:v>0.26521286236252206</c:v>
                </c:pt>
                <c:pt idx="19">
                  <c:v>0.2587791468384212</c:v>
                </c:pt>
                <c:pt idx="20">
                  <c:v>0.25251262658470836</c:v>
                </c:pt>
                <c:pt idx="21">
                  <c:v>0.24640090694168482</c:v>
                </c:pt>
                <c:pt idx="22">
                  <c:v>0.2404330529516518</c:v>
                </c:pt>
                <c:pt idx="23">
                  <c:v>0.23459935945819577</c:v>
                </c:pt>
                <c:pt idx="24">
                  <c:v>0.22889116576548085</c:v>
                </c:pt>
                <c:pt idx="25">
                  <c:v>0.2233007047352668</c:v>
                </c:pt>
                <c:pt idx="26">
                  <c:v>0.21782097880955076</c:v>
                </c:pt>
                <c:pt idx="27">
                  <c:v>0.21244565730978782</c:v>
                </c:pt>
                <c:pt idx="28">
                  <c:v>0.2071689907130736</c:v>
                </c:pt>
                <c:pt idx="29">
                  <c:v>0.20198573859628804</c:v>
                </c:pt>
                <c:pt idx="30">
                  <c:v>0.1968911086754465</c:v>
                </c:pt>
                <c:pt idx="31">
                  <c:v>0.19188070492096737</c:v>
                </c:pt>
                <c:pt idx="32">
                  <c:v>0.1869504831500295</c:v>
                </c:pt>
                <c:pt idx="33">
                  <c:v>0.18209671281976342</c:v>
                </c:pt>
                <c:pt idx="34">
                  <c:v>0.17731594399474898</c:v>
                </c:pt>
                <c:pt idx="35">
                  <c:v>0.17260497865728014</c:v>
                </c:pt>
                <c:pt idx="36">
                  <c:v>0.16796084568232023</c:v>
                </c:pt>
                <c:pt idx="37">
                  <c:v>0.16338077892075148</c:v>
                </c:pt>
                <c:pt idx="38">
                  <c:v>0.15886219793168632</c:v>
                </c:pt>
                <c:pt idx="39">
                  <c:v>0.15440269098269882</c:v>
                </c:pt>
                <c:pt idx="40">
                  <c:v>0.15000000000000002</c:v>
                </c:pt>
                <c:pt idx="41">
                  <c:v>0.15000000000000002</c:v>
                </c:pt>
                <c:pt idx="42">
                  <c:v>0.15000000000000002</c:v>
                </c:pt>
                <c:pt idx="43">
                  <c:v>0.15000000000000002</c:v>
                </c:pt>
                <c:pt idx="44">
                  <c:v>0.15000000000000002</c:v>
                </c:pt>
                <c:pt idx="45">
                  <c:v>0.15000000000000002</c:v>
                </c:pt>
                <c:pt idx="46">
                  <c:v>0.15000000000000002</c:v>
                </c:pt>
                <c:pt idx="47">
                  <c:v>0.15000000000000002</c:v>
                </c:pt>
                <c:pt idx="48">
                  <c:v>0.15000000000000002</c:v>
                </c:pt>
                <c:pt idx="49">
                  <c:v>0.15000000000000002</c:v>
                </c:pt>
                <c:pt idx="50">
                  <c:v>0.15000000000000002</c:v>
                </c:pt>
                <c:pt idx="51">
                  <c:v>0.15000000000000002</c:v>
                </c:pt>
                <c:pt idx="52">
                  <c:v>0.15000000000000002</c:v>
                </c:pt>
                <c:pt idx="53">
                  <c:v>0.15000000000000002</c:v>
                </c:pt>
                <c:pt idx="54">
                  <c:v>0.15000000000000002</c:v>
                </c:pt>
                <c:pt idx="55">
                  <c:v>0.15000000000000002</c:v>
                </c:pt>
                <c:pt idx="56">
                  <c:v>0.15000000000000002</c:v>
                </c:pt>
                <c:pt idx="57">
                  <c:v>0.15000000000000002</c:v>
                </c:pt>
                <c:pt idx="58">
                  <c:v>0.15000000000000002</c:v>
                </c:pt>
                <c:pt idx="59">
                  <c:v>0.15000000000000002</c:v>
                </c:pt>
                <c:pt idx="60">
                  <c:v>0.15000000000000002</c:v>
                </c:pt>
              </c:numCache>
            </c:numRef>
          </c:val>
          <c:smooth val="0"/>
        </c:ser>
        <c:ser>
          <c:idx val="1"/>
          <c:order val="1"/>
          <c:tx>
            <c:strRef>
              <c:f>Sheet1!$C$1</c:f>
              <c:strCache>
                <c:ptCount val="1"/>
                <c:pt idx="0">
                  <c:v>Dice weight</c:v>
                </c:pt>
              </c:strCache>
            </c:strRef>
          </c:tx>
          <c:spPr>
            <a:ln w="28575">
              <a:solidFill>
                <a:srgbClr val="EB6834"/>
              </a:solidFill>
            </a:ln>
          </c:spPr>
          <c:marker>
            <c:symbol val="none"/>
          </c:marker>
          <c:cat>
            <c:strRef>
              <c:f>Sheet1!$A$2:$A$62</c:f>
              <c:strCach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strCache>
            </c:strRef>
          </c:cat>
          <c:val>
            <c:numRef>
              <c:f>Sheet1!$C$2:$C$62</c:f>
              <c:numCache>
                <c:formatCode>General</c:formatCode>
                <c:ptCount val="61"/>
                <c:pt idx="0">
                  <c:v>0.35</c:v>
                </c:pt>
                <c:pt idx="1">
                  <c:v>0.35</c:v>
                </c:pt>
                <c:pt idx="2">
                  <c:v>0.35</c:v>
                </c:pt>
                <c:pt idx="3">
                  <c:v>0.35</c:v>
                </c:pt>
                <c:pt idx="4">
                  <c:v>0.35</c:v>
                </c:pt>
                <c:pt idx="5">
                  <c:v>0.35</c:v>
                </c:pt>
                <c:pt idx="6">
                  <c:v>0.35</c:v>
                </c:pt>
                <c:pt idx="7">
                  <c:v>0.35</c:v>
                </c:pt>
                <c:pt idx="8">
                  <c:v>0.35</c:v>
                </c:pt>
                <c:pt idx="9">
                  <c:v>0.35</c:v>
                </c:pt>
                <c:pt idx="10">
                  <c:v>0.35</c:v>
                </c:pt>
                <c:pt idx="11">
                  <c:v>0.35</c:v>
                </c:pt>
                <c:pt idx="12">
                  <c:v>0.35</c:v>
                </c:pt>
                <c:pt idx="13">
                  <c:v>0.35</c:v>
                </c:pt>
                <c:pt idx="14">
                  <c:v>0.35</c:v>
                </c:pt>
                <c:pt idx="15">
                  <c:v>0.35</c:v>
                </c:pt>
                <c:pt idx="16">
                  <c:v>0.35</c:v>
                </c:pt>
                <c:pt idx="17">
                  <c:v>0.35</c:v>
                </c:pt>
                <c:pt idx="18">
                  <c:v>0.35</c:v>
                </c:pt>
                <c:pt idx="19">
                  <c:v>0.35</c:v>
                </c:pt>
                <c:pt idx="20">
                  <c:v>0.35</c:v>
                </c:pt>
                <c:pt idx="21">
                  <c:v>0.35</c:v>
                </c:pt>
                <c:pt idx="22">
                  <c:v>0.35</c:v>
                </c:pt>
                <c:pt idx="23">
                  <c:v>0.35</c:v>
                </c:pt>
                <c:pt idx="24">
                  <c:v>0.35</c:v>
                </c:pt>
                <c:pt idx="25">
                  <c:v>0.35</c:v>
                </c:pt>
                <c:pt idx="26">
                  <c:v>0.35</c:v>
                </c:pt>
                <c:pt idx="27">
                  <c:v>0.35</c:v>
                </c:pt>
                <c:pt idx="28">
                  <c:v>0.35</c:v>
                </c:pt>
                <c:pt idx="29">
                  <c:v>0.35</c:v>
                </c:pt>
                <c:pt idx="30">
                  <c:v>0.35</c:v>
                </c:pt>
                <c:pt idx="31">
                  <c:v>0.35</c:v>
                </c:pt>
                <c:pt idx="32">
                  <c:v>0.35</c:v>
                </c:pt>
                <c:pt idx="33">
                  <c:v>0.35</c:v>
                </c:pt>
                <c:pt idx="34">
                  <c:v>0.35</c:v>
                </c:pt>
                <c:pt idx="35">
                  <c:v>0.35</c:v>
                </c:pt>
                <c:pt idx="36">
                  <c:v>0.35</c:v>
                </c:pt>
                <c:pt idx="37">
                  <c:v>0.35</c:v>
                </c:pt>
                <c:pt idx="38">
                  <c:v>0.35</c:v>
                </c:pt>
                <c:pt idx="39">
                  <c:v>0.35</c:v>
                </c:pt>
                <c:pt idx="40">
                  <c:v>0.35</c:v>
                </c:pt>
                <c:pt idx="41">
                  <c:v>0.35</c:v>
                </c:pt>
                <c:pt idx="42">
                  <c:v>0.35</c:v>
                </c:pt>
                <c:pt idx="43">
                  <c:v>0.35</c:v>
                </c:pt>
                <c:pt idx="44">
                  <c:v>0.35</c:v>
                </c:pt>
                <c:pt idx="45">
                  <c:v>0.35</c:v>
                </c:pt>
                <c:pt idx="46">
                  <c:v>0.35</c:v>
                </c:pt>
                <c:pt idx="47">
                  <c:v>0.35</c:v>
                </c:pt>
                <c:pt idx="48">
                  <c:v>0.35</c:v>
                </c:pt>
                <c:pt idx="49">
                  <c:v>0.35</c:v>
                </c:pt>
                <c:pt idx="50">
                  <c:v>0.35</c:v>
                </c:pt>
                <c:pt idx="51">
                  <c:v>0.35</c:v>
                </c:pt>
                <c:pt idx="52">
                  <c:v>0.35</c:v>
                </c:pt>
                <c:pt idx="53">
                  <c:v>0.35</c:v>
                </c:pt>
                <c:pt idx="54">
                  <c:v>0.35</c:v>
                </c:pt>
                <c:pt idx="55">
                  <c:v>0.35</c:v>
                </c:pt>
                <c:pt idx="56">
                  <c:v>0.35</c:v>
                </c:pt>
                <c:pt idx="57">
                  <c:v>0.35</c:v>
                </c:pt>
                <c:pt idx="58">
                  <c:v>0.35</c:v>
                </c:pt>
                <c:pt idx="59">
                  <c:v>0.35</c:v>
                </c:pt>
                <c:pt idx="60">
                  <c:v>0.35</c:v>
                </c:pt>
              </c:numCache>
            </c:numRef>
          </c:val>
          <c:smooth val="0"/>
        </c:ser>
        <c:ser>
          <c:idx val="2"/>
          <c:order val="2"/>
          <c:tx>
            <c:strRef>
              <c:f>Sheet1!$D$1</c:f>
              <c:strCache>
                <c:ptCount val="1"/>
                <c:pt idx="0">
                  <c:v>clDice weight</c:v>
                </c:pt>
              </c:strCache>
            </c:strRef>
          </c:tx>
          <c:spPr>
            <a:ln w="28575">
              <a:solidFill>
                <a:srgbClr val="1BAF7A"/>
              </a:solidFill>
            </a:ln>
          </c:spPr>
          <c:marker>
            <c:symbol val="none"/>
          </c:marker>
          <c:cat>
            <c:strRef>
              <c:f>Sheet1!$A$2:$A$62</c:f>
              <c:strCach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strCache>
            </c:strRef>
          </c:cat>
          <c:val>
            <c:numRef>
              <c:f>Sheet1!$D$2:$D$62</c:f>
              <c:numCache>
                <c:formatCode>General</c:formatCode>
                <c:ptCount val="61"/>
                <c:pt idx="0">
                  <c:v>0.15000000000000002</c:v>
                </c:pt>
                <c:pt idx="1">
                  <c:v>0.20533985905294666</c:v>
                </c:pt>
                <c:pt idx="2">
                  <c:v>0.22826237921249265</c:v>
                </c:pt>
                <c:pt idx="3">
                  <c:v>0.24585144756340405</c:v>
                </c:pt>
                <c:pt idx="4">
                  <c:v>0.2606797181058933</c:v>
                </c:pt>
                <c:pt idx="5">
                  <c:v>0.2737436867076458</c:v>
                </c:pt>
                <c:pt idx="6">
                  <c:v>0.2855544171172596</c:v>
                </c:pt>
                <c:pt idx="7">
                  <c:v>0.2964155046434632</c:v>
                </c:pt>
                <c:pt idx="8">
                  <c:v>0.3065247584249853</c:v>
                </c:pt>
                <c:pt idx="9">
                  <c:v>0.3160195771588399</c:v>
                </c:pt>
                <c:pt idx="10">
                  <c:v>0.325</c:v>
                </c:pt>
                <c:pt idx="11">
                  <c:v>0.33354154842977657</c:v>
                </c:pt>
                <c:pt idx="12">
                  <c:v>0.3417028951268081</c:v>
                </c:pt>
                <c:pt idx="13">
                  <c:v>0.34953069939234915</c:v>
                </c:pt>
                <c:pt idx="14">
                  <c:v>0.3570627924084866</c:v>
                </c:pt>
                <c:pt idx="15">
                  <c:v>0.3643303524935281</c:v>
                </c:pt>
                <c:pt idx="16">
                  <c:v>0.3713594362117866</c:v>
                </c:pt>
                <c:pt idx="17">
                  <c:v>0.3781720841820927</c:v>
                </c:pt>
                <c:pt idx="18">
                  <c:v>0.38478713763747796</c:v>
                </c:pt>
                <c:pt idx="19">
                  <c:v>0.39122085316157884</c:v>
                </c:pt>
                <c:pt idx="20">
                  <c:v>0.39748737341529167</c:v>
                </c:pt>
                <c:pt idx="21">
                  <c:v>0.4035990930583152</c:v>
                </c:pt>
                <c:pt idx="22">
                  <c:v>0.40956694704834823</c:v>
                </c:pt>
                <c:pt idx="23">
                  <c:v>0.41540064054180426</c:v>
                </c:pt>
                <c:pt idx="24">
                  <c:v>0.42110883423451917</c:v>
                </c:pt>
                <c:pt idx="25">
                  <c:v>0.4266992952647332</c:v>
                </c:pt>
                <c:pt idx="26">
                  <c:v>0.43217902119044926</c:v>
                </c:pt>
                <c:pt idx="27">
                  <c:v>0.4375543426902122</c:v>
                </c:pt>
                <c:pt idx="28">
                  <c:v>0.4428310092869264</c:v>
                </c:pt>
                <c:pt idx="29">
                  <c:v>0.448014261403712</c:v>
                </c:pt>
                <c:pt idx="30">
                  <c:v>0.4531088913245535</c:v>
                </c:pt>
                <c:pt idx="31">
                  <c:v>0.45811929507903265</c:v>
                </c:pt>
                <c:pt idx="32">
                  <c:v>0.46304951684997053</c:v>
                </c:pt>
                <c:pt idx="33">
                  <c:v>0.4679032871802366</c:v>
                </c:pt>
                <c:pt idx="34">
                  <c:v>0.47268405600525104</c:v>
                </c:pt>
                <c:pt idx="35">
                  <c:v>0.4773950213427199</c:v>
                </c:pt>
                <c:pt idx="36">
                  <c:v>0.4820391543176798</c:v>
                </c:pt>
                <c:pt idx="37">
                  <c:v>0.48661922107924854</c:v>
                </c:pt>
                <c:pt idx="38">
                  <c:v>0.4911378020683137</c:v>
                </c:pt>
                <c:pt idx="39">
                  <c:v>0.4955973090173012</c:v>
                </c:pt>
                <c:pt idx="40">
                  <c:v>0.5</c:v>
                </c:pt>
                <c:pt idx="41">
                  <c:v>0.5</c:v>
                </c:pt>
                <c:pt idx="42">
                  <c:v>0.5</c:v>
                </c:pt>
                <c:pt idx="43">
                  <c:v>0.5</c:v>
                </c:pt>
                <c:pt idx="44">
                  <c:v>0.5</c:v>
                </c:pt>
                <c:pt idx="45">
                  <c:v>0.5</c:v>
                </c:pt>
                <c:pt idx="46">
                  <c:v>0.5</c:v>
                </c:pt>
                <c:pt idx="47">
                  <c:v>0.5</c:v>
                </c:pt>
                <c:pt idx="48">
                  <c:v>0.5</c:v>
                </c:pt>
                <c:pt idx="49">
                  <c:v>0.5</c:v>
                </c:pt>
                <c:pt idx="50">
                  <c:v>0.5</c:v>
                </c:pt>
                <c:pt idx="51">
                  <c:v>0.5</c:v>
                </c:pt>
                <c:pt idx="52">
                  <c:v>0.5</c:v>
                </c:pt>
                <c:pt idx="53">
                  <c:v>0.5</c:v>
                </c:pt>
                <c:pt idx="54">
                  <c:v>0.5</c:v>
                </c:pt>
                <c:pt idx="55">
                  <c:v>0.5</c:v>
                </c:pt>
                <c:pt idx="56">
                  <c:v>0.5</c:v>
                </c:pt>
                <c:pt idx="57">
                  <c:v>0.5</c:v>
                </c:pt>
                <c:pt idx="58">
                  <c:v>0.5</c:v>
                </c:pt>
                <c:pt idx="59">
                  <c:v>0.5</c:v>
                </c:pt>
                <c:pt idx="60">
                  <c:v>0.5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5DCD9"/>
            </a:solidFill>
          </a:ln>
        </c:spPr>
        <c:txPr>
          <a:bodyPr/>
          <a:lstStyle/>
          <a:p>
            <a:pPr>
              <a:defRPr sz="1100">
                <a:solidFill>
                  <a:srgbClr val="4E5B62"/>
                </a:solidFill>
              </a:defRPr>
            </a:pPr>
          </a:p>
        </c:txPr>
        <c:crossAx val="2140495176"/>
        <c:crosses val="autoZero"/>
        <c:auto val="1"/>
        <c:lblAlgn val="ctr"/>
        <c:lblOffset val="100"/>
        <c:noMultiLvlLbl val="0"/>
        <c:tickLblSkip val="10"/>
        <c:tickMarkSkip val="10"/>
      </c:catAx>
      <c:valAx>
        <c:axId val="2140495176"/>
        <c:scaling>
          <c:max val="0.7"/>
          <c:min val="0.0"/>
        </c:scaling>
        <c:delete val="0"/>
        <c:axPos val="l"/>
        <c:majorGridlines>
          <c:spPr>
            <a:ln>
              <a:solidFill>
                <a:srgbClr val="E6EAE8"/>
              </a:solidFill>
            </a:ln>
          </c:spPr>
        </c:majorGridlines>
        <c:numFmt formatCode="0.0" sourceLinked="0"/>
        <c:majorTickMark val="out"/>
        <c:minorTickMark val="none"/>
        <c:tickLblPos val="nextTo"/>
        <c:spPr>
          <a:ln>
            <a:noFill/>
          </a:ln>
        </c:spPr>
        <c:txPr>
          <a:bodyPr/>
          <a:lstStyle/>
          <a:p>
            <a:pPr>
              <a:defRPr sz="1100">
                <a:solidFill>
                  <a:srgbClr val="4E5B62"/>
                </a:solidFill>
              </a:defRPr>
            </a:pPr>
          </a:p>
        </c:txPr>
        <c:crossAx val="2118791784"/>
        <c:crosses val="autoZero"/>
        <c:majorUnit val="0.1"/>
      </c:valAx>
    </c:plotArea>
    <c:legend>
      <c:legendPos val="b"/>
      <c:layout/>
      <c:overlay val="0"/>
      <c:txPr>
        <a:bodyPr/>
        <a:lstStyle/>
        <a:p>
          <a:pPr>
            <a:defRPr sz="1100">
              <a:solidFill>
                <a:srgbClr val="4E5B62"/>
              </a:solidFill>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builds a lightweight deep-learning pipeline that turns a satellite image tile into a connected road map, with particular attention to rural roads hidden under trees. The image on the right is the real output of the final model on a DeepGlobe tile: blue pixels are predicted road.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Rural road auditing is slow when done on the ground. High-resolution satellite imagery covers large areas, but rural roads are thin, unpaved, and low-contrast against farmland, and trees or shadows often hide parts of them. A standard segmentation model then produces broken pieces rather than a network you could navigate or audit. The tile shown is a real DeepGlobe sample: a dirt road through farmland, where field boundaries have almost the same colour and shape as the road.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challenge maps to a specific design choice. Thin roads motivate directional strip convolutions. Occlusion motivates a topology-aware loss (clDice), which rewards predictions that preserve the road's centerline, plus a geometric gap-bridging step after inference. Class imbalance motivates weighted BCE and Dice, and - as we learned the hard way - a checkpoint-selection rule that cannot be fooled by a model that predicts road everywhere. Edge constraints motivate a small MobileViT v2 backbone.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CNN segmenters like U-Net and D-LinkNet (the DeepGlobe 2018 road-challenge winner) work well on clear roads but are heavy and optimise pixels, not connectivity. Mobile segmentation heads are light but have no notion of thin, connected structures. Transformers give global context but plain self-attention is expensive at high resolution. clDice is a loss that measures agreement on skeletons. Graph methods predict the road network directly but are complex. The parameter and FLOP columns were measured on the same laptop CPU for every model - these are compute numbers only, since the reference models were not trained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DeepGlobe provides 6,226 labelled 1024x1024 tiles at 50 cm per pixel. Because the official validation and test masks were never released, every training run held out a fixed 10% of the labelled tiles (622 tiles, seed 42) for validation. The four tiles shown are real samples used throughout the slides: forest road, dense settlement, farmland, and a village with tree cover.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tiles are cropped to 256x256 at native resolution and augmented; the network is trained with a loss that combines pixel accuracy (BCE, Dice) and topology (clDice); the checkpoint is chosen by validation IoU with a hard gate that rejects collapsed epochs. Inference: a full tile goes through the network four times (original plus three flips) and the probabilities are averaged; the map is thresholded with hysteresis, closed morphologically, and then dead-end road segments that face each other across a gap are bridged. The highlighted boxes are the project's two core components.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encoder mixes cheap convolutional blocks with MobileViT v2 blocks, which add global context through separable self-attention whose cost grows linearly with image size rather than quadratically. A channel shift in front of each transformer block widens the receptive field for free. The decoder upsamples back to full resolution using strip convolutions, and each skip connection passes through an attention gate that learns to suppress clutter such as roof edges and field boundaries. Parameter and FLOP counts are measured from the trained checkpoint.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loss combines three terms. BCE with road pixels weighted twice as heavily, and soft Dice, both reward getting road pixels right. clDice, from Shit et al. 2021, compares the predicted and true road skeletons and penalises breaks in the centerline - the property we care about under canopy. Early in training BCE dominates so the network first learns where roads are; alpha then decays so clDice takes over. The model was warm-started from the earlier June baseline and trained on a Kaggle GPU; the best checkpoint by validation IoU was epoch 53. Note: a canopy-shadow augmentation exists in the code, but we found its constructor call silently disabled it on newer albumentations versions, so we do not claim it was active during training; the bug is now fixed.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earlier version of the model converged to predicting road almost everywhere - about 90% of every tile. Two things combined: the positive-class weight of 3 made 'everything is road' a cheap way to reduce the loss for a freshly initialised decoder, and the training script kept whichever epoch had the lowest soft clDice loss. clDice's sensitivity term saturates when the prediction covers the whole image, so the collapsed epoch looked like the best one. We lowered the weight to 2, switched checkpoint selection to IoU, added a hard gate that rejects any epoch predicting more than 20% road, and warm-started from the working baseline. The plots show real outputs of both checkpoints on the same tiles.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tile (117991) processed by the deployed pipeline. The averaged probability map is thresholded with hysteresis, which keeps faint road evidence (such as partially occluded road) as long as it connects to confident road. Closing seals tiny breaks. Bridging then skeletonises the mask, finds dead ends, and joins pairs that point at each other across a gap. On this tile the number of separate road pieces drops from 9 to 3. While preparing these slides we found that the original bridging also joined roads that simply leave the tile, drawing fake roads along the border; endpoints near the border are now ignored. Bridging can still add false links, which the ground-truth evaluation measures.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and training loop are written in PyTorch; augmentation uses Albumentations. Post-processing uses OpenCV and scikit-image. The trained network is exported to ONNX so field devices only need ONNX Runtime and OpenCV. Training and evaluation ran in Kaggle GPU notebooks. A Streamlit app provides an interactive demo.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of these numbers were measured on the same laptop CPU (Intel(R) Core(TM) i5-1035G4 CPU @ 1.10GHz), batch size 1, on a full 1024x1024 tile. The proposed model has 1,604,657 parameters and needs 61 GFLOPs per tile, far below U-Net and D-LinkNet. Honest caveat: LR-ASPP with MobileNetV3 is cheaper still (16 GFLOPs, 0.49 s), so our efficiency advantage is over U-Net-class models, not over every mobile network - and its accuracy on this task was not measured. The deployable ONNX model is 6.9 MB: a small graph file plus a separate weights file that must ship with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validation metrics saved inside each checkpoint during training. The final model reached 16.8% IoU and about 49% precision at epoch 53. But while preparing the results we found that validation resized each 1024 pixel tile down to 256 pixels, whereas training used native-resolution crops. Roads become four times thinner than anything the model trained on, and on two of the three tiles shown it finds nothing at all. The same model at native resolution - how it is actually deployed - finds the roads. So the logged IoU understates real performance, and checkpoint selection was also made at the wrong scale. The validation code is now fixed.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outputs of the final model with the full deployed pipeline: four-flip test-time augmentation, hysteresis thresholding, closing and gap bridging. Blue is predicted road, orange marks segments added by bridging. The forest road on the left is traced continuously. These sample tiles have no ground truth, so they show behaviour, not accuracy.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deployment the network is exported to ONNX with the sigmoid inside the graph and dynamic height and width, so any tile size divisible by 32 works. The export script checks the ONNX output against PyTorch and the maximum difference was below one millionth. On the device, only ONNX Runtime, OpenCV, NumPy, SciPy and scikit-image are needed. The latency shown is a single pass; test-time augmentation multiplies it by about four.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the pipeline works end to end and is light enough for field hardware. The most valuable lessons came from failures - a collapse hidden by a flattering metric, a validation step run at the wrong scale, an augmentation that silently never ran, and a bridging rule that invented roads along tile borders. Each is now fixed. Next steps are a retrain with native-resolution validation and a fair comparison against a trained mobile CNN.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2.jpg"/><Relationship Id="rId5" Type="http://schemas.openxmlformats.org/officeDocument/2006/relationships/image" Target="../media/image5.jp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61F"/>
        </a:solidFill>
        <a:effectLst/>
      </p:bgPr>
    </p:bg>
    <p:spTree>
      <p:nvGrpSpPr>
        <p:cNvPr id="1" name=""/>
        <p:cNvGrpSpPr/>
        <p:nvPr/>
      </p:nvGrpSpPr>
      <p:grpSpPr/>
      <p:pic>
        <p:nvPicPr>
          <p:cNvPr id="2" name="Picture 1" descr="overlay_100034.jpg"/>
          <p:cNvPicPr>
            <a:picLocks noChangeAspect="1"/>
          </p:cNvPicPr>
          <p:nvPr/>
        </p:nvPicPr>
        <p:blipFill>
          <a:blip r:embed="rId2"/>
          <a:srcRect l="10447" r="10447"/>
          <a:stretch>
            <a:fillRect/>
          </a:stretch>
        </p:blipFill>
        <p:spPr>
          <a:xfrm>
            <a:off x="6766560" y="0"/>
            <a:ext cx="5425135" cy="6858000"/>
          </a:xfrm>
          <a:prstGeom prst="rect">
            <a:avLst/>
          </a:prstGeom>
        </p:spPr>
      </p:pic>
      <p:sp>
        <p:nvSpPr>
          <p:cNvPr id="3" name="TextBox 2"/>
          <p:cNvSpPr txBox="1"/>
          <p:nvPr/>
        </p:nvSpPr>
        <p:spPr>
          <a:xfrm>
            <a:off x="640080" y="1371600"/>
            <a:ext cx="5852160" cy="274320"/>
          </a:xfrm>
          <a:prstGeom prst="rect">
            <a:avLst/>
          </a:prstGeom>
          <a:noFill/>
        </p:spPr>
        <p:txBody>
          <a:bodyPr wrap="square" lIns="0" rIns="0" tIns="0" bIns="0" anchor="t">
            <a:spAutoFit/>
          </a:bodyPr>
          <a:lstStyle/>
          <a:p>
            <a:pPr algn="l"/>
            <a:r>
              <a:rPr sz="1200" b="1" i="0">
                <a:solidFill>
                  <a:srgbClr val="8FC1A9"/>
                </a:solidFill>
                <a:latin typeface="Calibri"/>
              </a:rPr>
              <a:t>RESEARCH PROJECT</a:t>
            </a:r>
          </a:p>
        </p:txBody>
      </p:sp>
      <p:sp>
        <p:nvSpPr>
          <p:cNvPr id="4" name="TextBox 3"/>
          <p:cNvSpPr txBox="1"/>
          <p:nvPr/>
        </p:nvSpPr>
        <p:spPr>
          <a:xfrm>
            <a:off x="640080" y="1783080"/>
            <a:ext cx="5852160" cy="2011680"/>
          </a:xfrm>
          <a:prstGeom prst="rect">
            <a:avLst/>
          </a:prstGeom>
          <a:noFill/>
        </p:spPr>
        <p:txBody>
          <a:bodyPr wrap="square" lIns="0" rIns="0" tIns="0" bIns="0" anchor="t">
            <a:spAutoFit/>
          </a:bodyPr>
          <a:lstStyle/>
          <a:p>
            <a:pPr algn="l">
              <a:lnSpc>
                <a:spcPct val="95000"/>
              </a:lnSpc>
            </a:pPr>
            <a:r>
              <a:rPr sz="3800" b="1" i="0">
                <a:solidFill>
                  <a:srgbClr val="FFFFFF"/>
                </a:solidFill>
                <a:latin typeface="Calibri"/>
              </a:rPr>
              <a:t>Topology-Aware Rural Road Extraction from Satellite Imagery</a:t>
            </a:r>
          </a:p>
        </p:txBody>
      </p:sp>
      <p:sp>
        <p:nvSpPr>
          <p:cNvPr id="5" name="TextBox 4"/>
          <p:cNvSpPr txBox="1"/>
          <p:nvPr/>
        </p:nvSpPr>
        <p:spPr>
          <a:xfrm>
            <a:off x="640080" y="3886200"/>
            <a:ext cx="5669280" cy="914400"/>
          </a:xfrm>
          <a:prstGeom prst="rect">
            <a:avLst/>
          </a:prstGeom>
          <a:noFill/>
        </p:spPr>
        <p:txBody>
          <a:bodyPr wrap="square" lIns="0" rIns="0" tIns="0" bIns="0" anchor="t">
            <a:spAutoFit/>
          </a:bodyPr>
          <a:lstStyle/>
          <a:p>
            <a:pPr algn="l"/>
            <a:r>
              <a:rPr sz="1700" b="0" i="0">
                <a:solidFill>
                  <a:srgbClr val="B9CFC5"/>
                </a:solidFill>
                <a:latin typeface="Calibri"/>
              </a:rPr>
              <a:t>A 1.6 M-parameter MobileViT v2 pipeline that maps rural roads, is designed to keep them connected where canopy breaks them, and runs on a laptop CPU.</a:t>
            </a:r>
          </a:p>
        </p:txBody>
      </p:sp>
      <p:sp>
        <p:nvSpPr>
          <p:cNvPr id="6" name="TextBox 5"/>
          <p:cNvSpPr txBox="1"/>
          <p:nvPr/>
        </p:nvSpPr>
        <p:spPr>
          <a:xfrm>
            <a:off x="640080" y="5806440"/>
            <a:ext cx="5852160" cy="274320"/>
          </a:xfrm>
          <a:prstGeom prst="rect">
            <a:avLst/>
          </a:prstGeom>
          <a:noFill/>
        </p:spPr>
        <p:txBody>
          <a:bodyPr wrap="square" lIns="0" rIns="0" tIns="0" bIns="0" anchor="t">
            <a:spAutoFit/>
          </a:bodyPr>
          <a:lstStyle/>
          <a:p>
            <a:pPr algn="l"/>
            <a:r>
              <a:rPr sz="1200" b="0" i="0">
                <a:solidFill>
                  <a:srgbClr val="8FC1A9"/>
                </a:solidFill>
                <a:latin typeface="Calibri"/>
              </a:rPr>
              <a:t>DeepGlobe Road Extraction  ·  PyTorch  ·  ONNX Runtime</a:t>
            </a:r>
          </a:p>
        </p:txBody>
      </p:sp>
      <p:sp>
        <p:nvSpPr>
          <p:cNvPr id="7" name="TextBox 6"/>
          <p:cNvSpPr txBox="1"/>
          <p:nvPr/>
        </p:nvSpPr>
        <p:spPr>
          <a:xfrm>
            <a:off x="6903720" y="6446520"/>
            <a:ext cx="5120640" cy="274320"/>
          </a:xfrm>
          <a:prstGeom prst="rect">
            <a:avLst/>
          </a:prstGeom>
          <a:noFill/>
        </p:spPr>
        <p:txBody>
          <a:bodyPr wrap="square" lIns="0" rIns="0" tIns="0" bIns="0" anchor="t">
            <a:spAutoFit/>
          </a:bodyPr>
          <a:lstStyle/>
          <a:p>
            <a:pPr algn="l"/>
            <a:r>
              <a:rPr sz="1000" b="0" i="0">
                <a:solidFill>
                  <a:srgbClr val="FFFFFF"/>
                </a:solidFill>
                <a:latin typeface="Calibri"/>
              </a:rPr>
              <a:t>Model output on DeepGlobe tile 100034 (blue: predicted road, orange: bridged gap)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73952"/>
            <a:ext cx="914400" cy="228600"/>
          </a:xfrm>
          <a:prstGeom prst="rect">
            <a:avLst/>
          </a:prstGeom>
          <a:noFill/>
        </p:spPr>
        <p:txBody>
          <a:bodyPr wrap="square" lIns="0" rIns="0" tIns="0" bIns="0" anchor="t">
            <a:spAutoFit/>
          </a:bodyPr>
          <a:lstStyle/>
          <a:p>
            <a:pPr algn="r"/>
            <a:r>
              <a:rPr sz="1000" b="0" i="0">
                <a:solidFill>
                  <a:srgbClr val="86919A"/>
                </a:solidFill>
                <a:latin typeface="Calibri"/>
              </a:rPr>
              <a:t>2</a:t>
            </a:r>
          </a:p>
        </p:txBody>
      </p:sp>
      <p:sp>
        <p:nvSpPr>
          <p:cNvPr id="3" name="TextBox 2"/>
          <p:cNvSpPr txBox="1"/>
          <p:nvPr/>
        </p:nvSpPr>
        <p:spPr>
          <a:xfrm>
            <a:off x="548640" y="384048"/>
            <a:ext cx="7315200" cy="274320"/>
          </a:xfrm>
          <a:prstGeom prst="rect">
            <a:avLst/>
          </a:prstGeom>
          <a:noFill/>
        </p:spPr>
        <p:txBody>
          <a:bodyPr wrap="square" lIns="0" rIns="0" tIns="0" bIns="0" anchor="t">
            <a:spAutoFit/>
          </a:bodyPr>
          <a:lstStyle/>
          <a:p>
            <a:pPr algn="l"/>
            <a:r>
              <a:rPr sz="1100" b="1" i="0" spc="120">
                <a:solidFill>
                  <a:srgbClr val="2F7D5B"/>
                </a:solidFill>
                <a:latin typeface="Calibri"/>
              </a:rPr>
              <a:t>01 · PROBLEM</a:t>
            </a:r>
          </a:p>
        </p:txBody>
      </p:sp>
      <p:sp>
        <p:nvSpPr>
          <p:cNvPr id="4" name="TextBox 3"/>
          <p:cNvSpPr txBox="1"/>
          <p:nvPr/>
        </p:nvSpPr>
        <p:spPr>
          <a:xfrm>
            <a:off x="548640" y="658368"/>
            <a:ext cx="11094415" cy="566928"/>
          </a:xfrm>
          <a:prstGeom prst="rect">
            <a:avLst/>
          </a:prstGeom>
          <a:noFill/>
        </p:spPr>
        <p:txBody>
          <a:bodyPr wrap="square" lIns="0" rIns="0" tIns="0" bIns="0" anchor="t">
            <a:spAutoFit/>
          </a:bodyPr>
          <a:lstStyle/>
          <a:p>
            <a:pPr algn="l"/>
            <a:r>
              <a:rPr sz="3000" b="1" i="0">
                <a:solidFill>
                  <a:srgbClr val="1F2A2E"/>
                </a:solidFill>
                <a:latin typeface="Calibri"/>
              </a:rPr>
              <a:t>Rural roads are hard to map from above</a:t>
            </a:r>
          </a:p>
        </p:txBody>
      </p:sp>
      <p:sp>
        <p:nvSpPr>
          <p:cNvPr id="5" name="TextBox 4"/>
          <p:cNvSpPr txBox="1"/>
          <p:nvPr/>
        </p:nvSpPr>
        <p:spPr>
          <a:xfrm>
            <a:off x="548640" y="1618488"/>
            <a:ext cx="5760720" cy="822960"/>
          </a:xfrm>
          <a:prstGeom prst="rect">
            <a:avLst/>
          </a:prstGeom>
          <a:noFill/>
        </p:spPr>
        <p:txBody>
          <a:bodyPr wrap="square" lIns="0" rIns="0" tIns="0" bIns="0" anchor="t">
            <a:spAutoFit/>
          </a:bodyPr>
          <a:lstStyle/>
          <a:p>
            <a:pPr algn="l"/>
            <a:r>
              <a:rPr sz="1800" b="0" i="0">
                <a:solidFill>
                  <a:srgbClr val="1F2A2E"/>
                </a:solidFill>
                <a:latin typeface="Calibri"/>
              </a:rPr>
              <a:t>Programmes such as India’s PMGSY need frequent, large-area audits of rural roads — today largely done through manual ground surveys.</a:t>
            </a:r>
          </a:p>
        </p:txBody>
      </p:sp>
      <p:sp>
        <p:nvSpPr>
          <p:cNvPr id="6" name="TextBox 5"/>
          <p:cNvSpPr txBox="1"/>
          <p:nvPr/>
        </p:nvSpPr>
        <p:spPr>
          <a:xfrm>
            <a:off x="548640" y="2715768"/>
            <a:ext cx="5760720" cy="3291840"/>
          </a:xfrm>
          <a:prstGeom prst="rect">
            <a:avLst/>
          </a:prstGeom>
          <a:noFill/>
        </p:spPr>
        <p:txBody>
          <a:bodyPr wrap="square" lIns="0" rIns="0" tIns="0" bIns="0">
            <a:spAutoFit/>
          </a:bodyPr>
          <a:lstStyle/>
          <a:p>
            <a:pPr marL="219456" indent="-219456">
              <a:spcBef>
                <a:spcPts val="900"/>
              </a:spcBef>
              <a:buClr>
                <a:srgbClr val="2F7D5B"/>
              </a:buClr>
              <a:buFont typeface="Arial"/>
              <a:buChar char="•"/>
            </a:pPr>
            <a:r>
              <a:rPr sz="1500" b="0">
                <a:solidFill>
                  <a:srgbClr val="1F2A2E"/>
                </a:solidFill>
                <a:latin typeface="Calibri"/>
              </a:rPr>
              <a:t>Satellite imagery (0.5 m per pixel) could map roads at scale, automatically.</a:t>
            </a:r>
          </a:p>
          <a:p>
            <a:pPr marL="219456" indent="-219456">
              <a:spcBef>
                <a:spcPts val="900"/>
              </a:spcBef>
              <a:buClr>
                <a:srgbClr val="2F7D5B"/>
              </a:buClr>
              <a:buFont typeface="Arial"/>
              <a:buChar char="•"/>
            </a:pPr>
            <a:r>
              <a:rPr sz="1500" b="0">
                <a:solidFill>
                  <a:srgbClr val="1F2A2E"/>
                </a:solidFill>
                <a:latin typeface="Calibri"/>
              </a:rPr>
              <a:t>Rural roads are narrow, unpaved and close in colour to fields and field boundaries.</a:t>
            </a:r>
          </a:p>
          <a:p>
            <a:pPr marL="219456" indent="-219456">
              <a:spcBef>
                <a:spcPts val="900"/>
              </a:spcBef>
              <a:buClr>
                <a:srgbClr val="2F7D5B"/>
              </a:buClr>
              <a:buFont typeface="Arial"/>
              <a:buChar char="•"/>
            </a:pPr>
            <a:r>
              <a:rPr sz="1500" b="0">
                <a:solidFill>
                  <a:srgbClr val="1F2A2E"/>
                </a:solidFill>
                <a:latin typeface="Calibri"/>
              </a:rPr>
              <a:t>Tree canopy and shadows hide stretches of road, so pixel classifiers return broken, disconnected fragments instead of a usable network.</a:t>
            </a:r>
          </a:p>
          <a:p>
            <a:pPr marL="219456" indent="-219456">
              <a:spcBef>
                <a:spcPts val="900"/>
              </a:spcBef>
              <a:buClr>
                <a:srgbClr val="2F7D5B"/>
              </a:buClr>
              <a:buFont typeface="Arial"/>
              <a:buChar char="•"/>
            </a:pPr>
            <a:r>
              <a:rPr sz="1500" b="0">
                <a:solidFill>
                  <a:srgbClr val="1F2A2E"/>
                </a:solidFill>
                <a:latin typeface="Calibri"/>
              </a:rPr>
              <a:t>Surveys happen in the field: the model has to run on modest hardware without a GPU.</a:t>
            </a:r>
          </a:p>
        </p:txBody>
      </p:sp>
      <p:sp>
        <p:nvSpPr>
          <p:cNvPr id="7" name="Rounded Rectangle 6"/>
          <p:cNvSpPr/>
          <p:nvPr/>
        </p:nvSpPr>
        <p:spPr>
          <a:xfrm>
            <a:off x="548640" y="5532120"/>
            <a:ext cx="5760720" cy="658368"/>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a:solidFill>
                  <a:srgbClr val="2F7D5B"/>
                </a:solidFill>
                <a:latin typeface="Calibri"/>
              </a:rPr>
              <a:t>Goal  </a:t>
            </a:r>
            <a:r>
              <a:rPr sz="1400" b="0">
                <a:solidFill>
                  <a:srgbClr val="1F2A2E"/>
                </a:solidFill>
                <a:latin typeface="Calibri"/>
              </a:rPr>
              <a:t>turn a satellite tile into a connected road network — even where trees cover the road.</a:t>
            </a:r>
          </a:p>
        </p:txBody>
      </p:sp>
      <p:pic>
        <p:nvPicPr>
          <p:cNvPr id="8" name="Picture 7" descr="tile_115714.jpg"/>
          <p:cNvPicPr>
            <a:picLocks noChangeAspect="1"/>
          </p:cNvPicPr>
          <p:nvPr/>
        </p:nvPicPr>
        <p:blipFill>
          <a:blip r:embed="rId2"/>
          <a:stretch>
            <a:fillRect/>
          </a:stretch>
        </p:blipFill>
        <p:spPr>
          <a:xfrm>
            <a:off x="6720840" y="1572768"/>
            <a:ext cx="4663440" cy="4663440"/>
          </a:xfrm>
          <a:prstGeom prst="rect">
            <a:avLst/>
          </a:prstGeom>
          <a:ln w="9525">
            <a:solidFill>
              <a:srgbClr val="D5DCD9"/>
            </a:solidFill>
          </a:ln>
        </p:spPr>
      </p:pic>
      <p:sp>
        <p:nvSpPr>
          <p:cNvPr id="9" name="TextBox 8"/>
          <p:cNvSpPr txBox="1"/>
          <p:nvPr/>
        </p:nvSpPr>
        <p:spPr>
          <a:xfrm>
            <a:off x="6720840" y="6309359"/>
            <a:ext cx="4663440" cy="274320"/>
          </a:xfrm>
          <a:prstGeom prst="rect">
            <a:avLst/>
          </a:prstGeom>
          <a:noFill/>
        </p:spPr>
        <p:txBody>
          <a:bodyPr wrap="square" lIns="0" rIns="0" tIns="0" bIns="0" anchor="t">
            <a:spAutoFit/>
          </a:bodyPr>
          <a:lstStyle/>
          <a:p>
            <a:pPr algn="l"/>
            <a:r>
              <a:rPr sz="1100" b="0" i="0">
                <a:solidFill>
                  <a:srgbClr val="86919A"/>
                </a:solidFill>
                <a:latin typeface="Calibri"/>
              </a:rPr>
              <a:t>DeepGlobe tile 115714: an unpaved road among fields whose boundaries look much like roads.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73952"/>
            <a:ext cx="914400" cy="228600"/>
          </a:xfrm>
          <a:prstGeom prst="rect">
            <a:avLst/>
          </a:prstGeom>
          <a:noFill/>
        </p:spPr>
        <p:txBody>
          <a:bodyPr wrap="square" lIns="0" rIns="0" tIns="0" bIns="0" anchor="t">
            <a:spAutoFit/>
          </a:bodyPr>
          <a:lstStyle/>
          <a:p>
            <a:pPr algn="r"/>
            <a:r>
              <a:rPr sz="1000" b="0" i="0">
                <a:solidFill>
                  <a:srgbClr val="86919A"/>
                </a:solidFill>
                <a:latin typeface="Calibri"/>
              </a:rPr>
              <a:t>3</a:t>
            </a:r>
          </a:p>
        </p:txBody>
      </p:sp>
      <p:sp>
        <p:nvSpPr>
          <p:cNvPr id="3" name="TextBox 2"/>
          <p:cNvSpPr txBox="1"/>
          <p:nvPr/>
        </p:nvSpPr>
        <p:spPr>
          <a:xfrm>
            <a:off x="548640" y="384048"/>
            <a:ext cx="7315200" cy="274320"/>
          </a:xfrm>
          <a:prstGeom prst="rect">
            <a:avLst/>
          </a:prstGeom>
          <a:noFill/>
        </p:spPr>
        <p:txBody>
          <a:bodyPr wrap="square" lIns="0" rIns="0" tIns="0" bIns="0" anchor="t">
            <a:spAutoFit/>
          </a:bodyPr>
          <a:lstStyle/>
          <a:p>
            <a:pPr algn="l"/>
            <a:r>
              <a:rPr sz="1100" b="1" i="0" spc="120">
                <a:solidFill>
                  <a:srgbClr val="2F7D5B"/>
                </a:solidFill>
                <a:latin typeface="Calibri"/>
              </a:rPr>
              <a:t>02 · CHALLENGES &amp; APPROACH</a:t>
            </a:r>
          </a:p>
        </p:txBody>
      </p:sp>
      <p:sp>
        <p:nvSpPr>
          <p:cNvPr id="4" name="TextBox 3"/>
          <p:cNvSpPr txBox="1"/>
          <p:nvPr/>
        </p:nvSpPr>
        <p:spPr>
          <a:xfrm>
            <a:off x="548640" y="658368"/>
            <a:ext cx="11094415" cy="566928"/>
          </a:xfrm>
          <a:prstGeom prst="rect">
            <a:avLst/>
          </a:prstGeom>
          <a:noFill/>
        </p:spPr>
        <p:txBody>
          <a:bodyPr wrap="square" lIns="0" rIns="0" tIns="0" bIns="0" anchor="t">
            <a:spAutoFit/>
          </a:bodyPr>
          <a:lstStyle/>
          <a:p>
            <a:pPr algn="l"/>
            <a:r>
              <a:rPr sz="3000" b="1" i="0">
                <a:solidFill>
                  <a:srgbClr val="1F2A2E"/>
                </a:solidFill>
                <a:latin typeface="Calibri"/>
              </a:rPr>
              <a:t>Four challenges, four design responses</a:t>
            </a:r>
          </a:p>
        </p:txBody>
      </p:sp>
      <p:sp>
        <p:nvSpPr>
          <p:cNvPr id="5" name="Rounded Rectangle 4"/>
          <p:cNvSpPr/>
          <p:nvPr/>
        </p:nvSpPr>
        <p:spPr>
          <a:xfrm>
            <a:off x="548640" y="1664208"/>
            <a:ext cx="2567863" cy="4343400"/>
          </a:xfrm>
          <a:prstGeom prst="roundRect">
            <a:avLst>
              <a:gd name="adj" fmla="val 5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22959" y="1938528"/>
            <a:ext cx="457200" cy="457200"/>
          </a:xfrm>
          <a:prstGeom prst="ellipse">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7" name="TextBox 6"/>
          <p:cNvSpPr txBox="1"/>
          <p:nvPr/>
        </p:nvSpPr>
        <p:spPr>
          <a:xfrm>
            <a:off x="822959" y="2624328"/>
            <a:ext cx="2019223" cy="731520"/>
          </a:xfrm>
          <a:prstGeom prst="rect">
            <a:avLst/>
          </a:prstGeom>
          <a:noFill/>
        </p:spPr>
        <p:txBody>
          <a:bodyPr wrap="square" lIns="0" rIns="0" tIns="0" bIns="0" anchor="t">
            <a:spAutoFit/>
          </a:bodyPr>
          <a:lstStyle/>
          <a:p>
            <a:pPr algn="l"/>
            <a:r>
              <a:rPr sz="1800" b="1" i="0">
                <a:solidFill>
                  <a:srgbClr val="1F2A2E"/>
                </a:solidFill>
                <a:latin typeface="Calibri"/>
              </a:rPr>
              <a:t>Thin, irregular roads</a:t>
            </a:r>
          </a:p>
        </p:txBody>
      </p:sp>
      <p:sp>
        <p:nvSpPr>
          <p:cNvPr id="8" name="TextBox 7"/>
          <p:cNvSpPr txBox="1"/>
          <p:nvPr/>
        </p:nvSpPr>
        <p:spPr>
          <a:xfrm>
            <a:off x="822959" y="3355848"/>
            <a:ext cx="2019223" cy="1005840"/>
          </a:xfrm>
          <a:prstGeom prst="rect">
            <a:avLst/>
          </a:prstGeom>
          <a:noFill/>
        </p:spPr>
        <p:txBody>
          <a:bodyPr wrap="square" lIns="0" rIns="0" tIns="0" bIns="0" anchor="t">
            <a:spAutoFit/>
          </a:bodyPr>
          <a:lstStyle/>
          <a:p>
            <a:pPr algn="l"/>
            <a:r>
              <a:rPr sz="1400" b="0" i="0">
                <a:solidFill>
                  <a:srgbClr val="4E5B62"/>
                </a:solidFill>
                <a:latin typeface="Calibri"/>
              </a:rPr>
              <a:t>Roads are a few pixels wide and wind through fields.</a:t>
            </a:r>
          </a:p>
        </p:txBody>
      </p:sp>
      <p:sp>
        <p:nvSpPr>
          <p:cNvPr id="9" name="TextBox 8"/>
          <p:cNvSpPr txBox="1"/>
          <p:nvPr/>
        </p:nvSpPr>
        <p:spPr>
          <a:xfrm>
            <a:off x="822959" y="4407408"/>
            <a:ext cx="2019223" cy="274320"/>
          </a:xfrm>
          <a:prstGeom prst="rect">
            <a:avLst/>
          </a:prstGeom>
          <a:noFill/>
        </p:spPr>
        <p:txBody>
          <a:bodyPr wrap="square" lIns="0" rIns="0" tIns="0" bIns="0" anchor="t">
            <a:spAutoFit/>
          </a:bodyPr>
          <a:lstStyle/>
          <a:p>
            <a:pPr algn="l"/>
            <a:r>
              <a:rPr sz="1000" b="1" i="0">
                <a:solidFill>
                  <a:srgbClr val="2F7D5B"/>
                </a:solidFill>
                <a:latin typeface="Calibri"/>
              </a:rPr>
              <a:t>OUR RESPONSE</a:t>
            </a:r>
          </a:p>
        </p:txBody>
      </p:sp>
      <p:sp>
        <p:nvSpPr>
          <p:cNvPr id="10" name="TextBox 9"/>
          <p:cNvSpPr txBox="1"/>
          <p:nvPr/>
        </p:nvSpPr>
        <p:spPr>
          <a:xfrm>
            <a:off x="822959" y="4700016"/>
            <a:ext cx="2019223" cy="1188720"/>
          </a:xfrm>
          <a:prstGeom prst="rect">
            <a:avLst/>
          </a:prstGeom>
          <a:noFill/>
        </p:spPr>
        <p:txBody>
          <a:bodyPr wrap="square" lIns="0" rIns="0" tIns="0" bIns="0" anchor="t">
            <a:spAutoFit/>
          </a:bodyPr>
          <a:lstStyle/>
          <a:p>
            <a:pPr algn="l"/>
            <a:r>
              <a:rPr sz="1400" b="0" i="0">
                <a:solidFill>
                  <a:srgbClr val="1F2A2E"/>
                </a:solidFill>
                <a:latin typeface="Calibri"/>
              </a:rPr>
              <a:t>Strip convolutions (1×3 then 3×1) act as directional road detectors.</a:t>
            </a:r>
          </a:p>
        </p:txBody>
      </p:sp>
      <p:sp>
        <p:nvSpPr>
          <p:cNvPr id="11" name="Rounded Rectangle 10"/>
          <p:cNvSpPr/>
          <p:nvPr/>
        </p:nvSpPr>
        <p:spPr>
          <a:xfrm>
            <a:off x="3390823" y="1664208"/>
            <a:ext cx="2567863" cy="4343400"/>
          </a:xfrm>
          <a:prstGeom prst="roundRect">
            <a:avLst>
              <a:gd name="adj" fmla="val 5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3665143" y="1938528"/>
            <a:ext cx="457200" cy="457200"/>
          </a:xfrm>
          <a:prstGeom prst="ellipse">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3" name="TextBox 12"/>
          <p:cNvSpPr txBox="1"/>
          <p:nvPr/>
        </p:nvSpPr>
        <p:spPr>
          <a:xfrm>
            <a:off x="3665143" y="2624328"/>
            <a:ext cx="2019223" cy="731520"/>
          </a:xfrm>
          <a:prstGeom prst="rect">
            <a:avLst/>
          </a:prstGeom>
          <a:noFill/>
        </p:spPr>
        <p:txBody>
          <a:bodyPr wrap="square" lIns="0" rIns="0" tIns="0" bIns="0" anchor="t">
            <a:spAutoFit/>
          </a:bodyPr>
          <a:lstStyle/>
          <a:p>
            <a:pPr algn="l"/>
            <a:r>
              <a:rPr sz="1800" b="1" i="0">
                <a:solidFill>
                  <a:srgbClr val="1F2A2E"/>
                </a:solidFill>
                <a:latin typeface="Calibri"/>
              </a:rPr>
              <a:t>Canopy &amp; shadow occlusion</a:t>
            </a:r>
          </a:p>
        </p:txBody>
      </p:sp>
      <p:sp>
        <p:nvSpPr>
          <p:cNvPr id="14" name="TextBox 13"/>
          <p:cNvSpPr txBox="1"/>
          <p:nvPr/>
        </p:nvSpPr>
        <p:spPr>
          <a:xfrm>
            <a:off x="3665143" y="3355848"/>
            <a:ext cx="2019223" cy="1005840"/>
          </a:xfrm>
          <a:prstGeom prst="rect">
            <a:avLst/>
          </a:prstGeom>
          <a:noFill/>
        </p:spPr>
        <p:txBody>
          <a:bodyPr wrap="square" lIns="0" rIns="0" tIns="0" bIns="0" anchor="t">
            <a:spAutoFit/>
          </a:bodyPr>
          <a:lstStyle/>
          <a:p>
            <a:pPr algn="l"/>
            <a:r>
              <a:rPr sz="1400" b="0" i="0">
                <a:solidFill>
                  <a:srgbClr val="4E5B62"/>
                </a:solidFill>
                <a:latin typeface="Calibri"/>
              </a:rPr>
              <a:t>Trees hide stretches of road, breaking connectivity.</a:t>
            </a:r>
          </a:p>
        </p:txBody>
      </p:sp>
      <p:sp>
        <p:nvSpPr>
          <p:cNvPr id="15" name="TextBox 14"/>
          <p:cNvSpPr txBox="1"/>
          <p:nvPr/>
        </p:nvSpPr>
        <p:spPr>
          <a:xfrm>
            <a:off x="3665143" y="4407408"/>
            <a:ext cx="2019223" cy="274320"/>
          </a:xfrm>
          <a:prstGeom prst="rect">
            <a:avLst/>
          </a:prstGeom>
          <a:noFill/>
        </p:spPr>
        <p:txBody>
          <a:bodyPr wrap="square" lIns="0" rIns="0" tIns="0" bIns="0" anchor="t">
            <a:spAutoFit/>
          </a:bodyPr>
          <a:lstStyle/>
          <a:p>
            <a:pPr algn="l"/>
            <a:r>
              <a:rPr sz="1000" b="1" i="0">
                <a:solidFill>
                  <a:srgbClr val="2F7D5B"/>
                </a:solidFill>
                <a:latin typeface="Calibri"/>
              </a:rPr>
              <a:t>OUR RESPONSE</a:t>
            </a:r>
          </a:p>
        </p:txBody>
      </p:sp>
      <p:sp>
        <p:nvSpPr>
          <p:cNvPr id="16" name="TextBox 15"/>
          <p:cNvSpPr txBox="1"/>
          <p:nvPr/>
        </p:nvSpPr>
        <p:spPr>
          <a:xfrm>
            <a:off x="3665143" y="4700016"/>
            <a:ext cx="2019223" cy="1188720"/>
          </a:xfrm>
          <a:prstGeom prst="rect">
            <a:avLst/>
          </a:prstGeom>
          <a:noFill/>
        </p:spPr>
        <p:txBody>
          <a:bodyPr wrap="square" lIns="0" rIns="0" tIns="0" bIns="0" anchor="t">
            <a:spAutoFit/>
          </a:bodyPr>
          <a:lstStyle/>
          <a:p>
            <a:pPr algn="l"/>
            <a:r>
              <a:rPr sz="1400" b="0" i="0">
                <a:solidFill>
                  <a:srgbClr val="1F2A2E"/>
                </a:solidFill>
                <a:latin typeface="Calibri"/>
              </a:rPr>
              <a:t>Topology-aware clDice loss in training; canopy-gap bridging at inference.</a:t>
            </a:r>
          </a:p>
        </p:txBody>
      </p:sp>
      <p:sp>
        <p:nvSpPr>
          <p:cNvPr id="17" name="Rounded Rectangle 16"/>
          <p:cNvSpPr/>
          <p:nvPr/>
        </p:nvSpPr>
        <p:spPr>
          <a:xfrm>
            <a:off x="6233007" y="1664208"/>
            <a:ext cx="2567863" cy="4343400"/>
          </a:xfrm>
          <a:prstGeom prst="roundRect">
            <a:avLst>
              <a:gd name="adj" fmla="val 5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507327" y="1938528"/>
            <a:ext cx="457200" cy="457200"/>
          </a:xfrm>
          <a:prstGeom prst="ellipse">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9" name="TextBox 18"/>
          <p:cNvSpPr txBox="1"/>
          <p:nvPr/>
        </p:nvSpPr>
        <p:spPr>
          <a:xfrm>
            <a:off x="6507327" y="2624328"/>
            <a:ext cx="2019223" cy="731520"/>
          </a:xfrm>
          <a:prstGeom prst="rect">
            <a:avLst/>
          </a:prstGeom>
          <a:noFill/>
        </p:spPr>
        <p:txBody>
          <a:bodyPr wrap="square" lIns="0" rIns="0" tIns="0" bIns="0" anchor="t">
            <a:spAutoFit/>
          </a:bodyPr>
          <a:lstStyle/>
          <a:p>
            <a:pPr algn="l"/>
            <a:r>
              <a:rPr sz="1800" b="1" i="0">
                <a:solidFill>
                  <a:srgbClr val="1F2A2E"/>
                </a:solidFill>
                <a:latin typeface="Calibri"/>
              </a:rPr>
              <a:t>Severe class imbalance</a:t>
            </a:r>
          </a:p>
        </p:txBody>
      </p:sp>
      <p:sp>
        <p:nvSpPr>
          <p:cNvPr id="20" name="TextBox 19"/>
          <p:cNvSpPr txBox="1"/>
          <p:nvPr/>
        </p:nvSpPr>
        <p:spPr>
          <a:xfrm>
            <a:off x="6507327" y="3355848"/>
            <a:ext cx="2019223" cy="1005840"/>
          </a:xfrm>
          <a:prstGeom prst="rect">
            <a:avLst/>
          </a:prstGeom>
          <a:noFill/>
        </p:spPr>
        <p:txBody>
          <a:bodyPr wrap="square" lIns="0" rIns="0" tIns="0" bIns="0" anchor="t">
            <a:spAutoFit/>
          </a:bodyPr>
          <a:lstStyle/>
          <a:p>
            <a:pPr algn="l"/>
            <a:r>
              <a:rPr sz="1400" b="0" i="0">
                <a:solidFill>
                  <a:srgbClr val="4E5B62"/>
                </a:solidFill>
                <a:latin typeface="Calibri"/>
              </a:rPr>
              <a:t>Roads cover only a few percent of pixels.</a:t>
            </a:r>
          </a:p>
        </p:txBody>
      </p:sp>
      <p:sp>
        <p:nvSpPr>
          <p:cNvPr id="21" name="TextBox 20"/>
          <p:cNvSpPr txBox="1"/>
          <p:nvPr/>
        </p:nvSpPr>
        <p:spPr>
          <a:xfrm>
            <a:off x="6507327" y="4407408"/>
            <a:ext cx="2019223" cy="274320"/>
          </a:xfrm>
          <a:prstGeom prst="rect">
            <a:avLst/>
          </a:prstGeom>
          <a:noFill/>
        </p:spPr>
        <p:txBody>
          <a:bodyPr wrap="square" lIns="0" rIns="0" tIns="0" bIns="0" anchor="t">
            <a:spAutoFit/>
          </a:bodyPr>
          <a:lstStyle/>
          <a:p>
            <a:pPr algn="l"/>
            <a:r>
              <a:rPr sz="1000" b="1" i="0">
                <a:solidFill>
                  <a:srgbClr val="2F7D5B"/>
                </a:solidFill>
                <a:latin typeface="Calibri"/>
              </a:rPr>
              <a:t>OUR RESPONSE</a:t>
            </a:r>
          </a:p>
        </p:txBody>
      </p:sp>
      <p:sp>
        <p:nvSpPr>
          <p:cNvPr id="22" name="TextBox 21"/>
          <p:cNvSpPr txBox="1"/>
          <p:nvPr/>
        </p:nvSpPr>
        <p:spPr>
          <a:xfrm>
            <a:off x="6507327" y="4700016"/>
            <a:ext cx="2019223" cy="1188720"/>
          </a:xfrm>
          <a:prstGeom prst="rect">
            <a:avLst/>
          </a:prstGeom>
          <a:noFill/>
        </p:spPr>
        <p:txBody>
          <a:bodyPr wrap="square" lIns="0" rIns="0" tIns="0" bIns="0" anchor="t">
            <a:spAutoFit/>
          </a:bodyPr>
          <a:lstStyle/>
          <a:p>
            <a:pPr algn="l"/>
            <a:r>
              <a:rPr sz="1400" b="0" i="0">
                <a:solidFill>
                  <a:srgbClr val="1F2A2E"/>
                </a:solidFill>
                <a:latin typeface="Calibri"/>
              </a:rPr>
              <a:t>Weighted BCE + soft Dice, with checkpoint selection guarded against collapse.</a:t>
            </a:r>
          </a:p>
        </p:txBody>
      </p:sp>
      <p:sp>
        <p:nvSpPr>
          <p:cNvPr id="23" name="Rounded Rectangle 22"/>
          <p:cNvSpPr/>
          <p:nvPr/>
        </p:nvSpPr>
        <p:spPr>
          <a:xfrm>
            <a:off x="9075191" y="1664208"/>
            <a:ext cx="2567863" cy="4343400"/>
          </a:xfrm>
          <a:prstGeom prst="roundRect">
            <a:avLst>
              <a:gd name="adj" fmla="val 5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349511" y="1938528"/>
            <a:ext cx="457200" cy="457200"/>
          </a:xfrm>
          <a:prstGeom prst="ellipse">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25" name="TextBox 24"/>
          <p:cNvSpPr txBox="1"/>
          <p:nvPr/>
        </p:nvSpPr>
        <p:spPr>
          <a:xfrm>
            <a:off x="9349511" y="2624328"/>
            <a:ext cx="2019223" cy="731520"/>
          </a:xfrm>
          <a:prstGeom prst="rect">
            <a:avLst/>
          </a:prstGeom>
          <a:noFill/>
        </p:spPr>
        <p:txBody>
          <a:bodyPr wrap="square" lIns="0" rIns="0" tIns="0" bIns="0" anchor="t">
            <a:spAutoFit/>
          </a:bodyPr>
          <a:lstStyle/>
          <a:p>
            <a:pPr algn="l"/>
            <a:r>
              <a:rPr sz="1800" b="1" i="0">
                <a:solidFill>
                  <a:srgbClr val="1F2A2E"/>
                </a:solidFill>
                <a:latin typeface="Calibri"/>
              </a:rPr>
              <a:t>Edge-hardware limits</a:t>
            </a:r>
          </a:p>
        </p:txBody>
      </p:sp>
      <p:sp>
        <p:nvSpPr>
          <p:cNvPr id="26" name="TextBox 25"/>
          <p:cNvSpPr txBox="1"/>
          <p:nvPr/>
        </p:nvSpPr>
        <p:spPr>
          <a:xfrm>
            <a:off x="9349511" y="3355848"/>
            <a:ext cx="2019223" cy="1005840"/>
          </a:xfrm>
          <a:prstGeom prst="rect">
            <a:avLst/>
          </a:prstGeom>
          <a:noFill/>
        </p:spPr>
        <p:txBody>
          <a:bodyPr wrap="square" lIns="0" rIns="0" tIns="0" bIns="0" anchor="t">
            <a:spAutoFit/>
          </a:bodyPr>
          <a:lstStyle/>
          <a:p>
            <a:pPr algn="l"/>
            <a:r>
              <a:rPr sz="1400" b="0" i="0">
                <a:solidFill>
                  <a:srgbClr val="4E5B62"/>
                </a:solidFill>
                <a:latin typeface="Calibri"/>
              </a:rPr>
              <a:t>Field devices have no GPU and little memory.</a:t>
            </a:r>
          </a:p>
        </p:txBody>
      </p:sp>
      <p:sp>
        <p:nvSpPr>
          <p:cNvPr id="27" name="TextBox 26"/>
          <p:cNvSpPr txBox="1"/>
          <p:nvPr/>
        </p:nvSpPr>
        <p:spPr>
          <a:xfrm>
            <a:off x="9349511" y="4407408"/>
            <a:ext cx="2019223" cy="274320"/>
          </a:xfrm>
          <a:prstGeom prst="rect">
            <a:avLst/>
          </a:prstGeom>
          <a:noFill/>
        </p:spPr>
        <p:txBody>
          <a:bodyPr wrap="square" lIns="0" rIns="0" tIns="0" bIns="0" anchor="t">
            <a:spAutoFit/>
          </a:bodyPr>
          <a:lstStyle/>
          <a:p>
            <a:pPr algn="l"/>
            <a:r>
              <a:rPr sz="1000" b="1" i="0">
                <a:solidFill>
                  <a:srgbClr val="2F7D5B"/>
                </a:solidFill>
                <a:latin typeface="Calibri"/>
              </a:rPr>
              <a:t>OUR RESPONSE</a:t>
            </a:r>
          </a:p>
        </p:txBody>
      </p:sp>
      <p:sp>
        <p:nvSpPr>
          <p:cNvPr id="28" name="TextBox 27"/>
          <p:cNvSpPr txBox="1"/>
          <p:nvPr/>
        </p:nvSpPr>
        <p:spPr>
          <a:xfrm>
            <a:off x="9349511" y="4700016"/>
            <a:ext cx="2019223" cy="1188720"/>
          </a:xfrm>
          <a:prstGeom prst="rect">
            <a:avLst/>
          </a:prstGeom>
          <a:noFill/>
        </p:spPr>
        <p:txBody>
          <a:bodyPr wrap="square" lIns="0" rIns="0" tIns="0" bIns="0" anchor="t">
            <a:spAutoFit/>
          </a:bodyPr>
          <a:lstStyle/>
          <a:p>
            <a:pPr algn="l"/>
            <a:r>
              <a:rPr sz="1400" b="0" i="0">
                <a:solidFill>
                  <a:srgbClr val="1F2A2E"/>
                </a:solidFill>
                <a:latin typeface="Calibri"/>
              </a:rPr>
              <a:t>MobileViT v2 with linear-cost attention: 1.6 M parameters, ONNX export.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73952"/>
            <a:ext cx="914400" cy="228600"/>
          </a:xfrm>
          <a:prstGeom prst="rect">
            <a:avLst/>
          </a:prstGeom>
          <a:noFill/>
        </p:spPr>
        <p:txBody>
          <a:bodyPr wrap="square" lIns="0" rIns="0" tIns="0" bIns="0" anchor="t">
            <a:spAutoFit/>
          </a:bodyPr>
          <a:lstStyle/>
          <a:p>
            <a:pPr algn="r"/>
            <a:r>
              <a:rPr sz="1000" b="0" i="0">
                <a:solidFill>
                  <a:srgbClr val="86919A"/>
                </a:solidFill>
                <a:latin typeface="Calibri"/>
              </a:rPr>
              <a:t>4</a:t>
            </a:r>
          </a:p>
        </p:txBody>
      </p:sp>
      <p:sp>
        <p:nvSpPr>
          <p:cNvPr id="3" name="TextBox 2"/>
          <p:cNvSpPr txBox="1"/>
          <p:nvPr/>
        </p:nvSpPr>
        <p:spPr>
          <a:xfrm>
            <a:off x="548640" y="384048"/>
            <a:ext cx="7315200" cy="274320"/>
          </a:xfrm>
          <a:prstGeom prst="rect">
            <a:avLst/>
          </a:prstGeom>
          <a:noFill/>
        </p:spPr>
        <p:txBody>
          <a:bodyPr wrap="square" lIns="0" rIns="0" tIns="0" bIns="0" anchor="t">
            <a:spAutoFit/>
          </a:bodyPr>
          <a:lstStyle/>
          <a:p>
            <a:pPr algn="l"/>
            <a:r>
              <a:rPr sz="1100" b="1" i="0" spc="120">
                <a:solidFill>
                  <a:srgbClr val="2F7D5B"/>
                </a:solidFill>
                <a:latin typeface="Calibri"/>
              </a:rPr>
              <a:t>03 · EXISTING APPROACHES</a:t>
            </a:r>
          </a:p>
        </p:txBody>
      </p:sp>
      <p:sp>
        <p:nvSpPr>
          <p:cNvPr id="4" name="TextBox 3"/>
          <p:cNvSpPr txBox="1"/>
          <p:nvPr/>
        </p:nvSpPr>
        <p:spPr>
          <a:xfrm>
            <a:off x="548640" y="658368"/>
            <a:ext cx="11094415" cy="566928"/>
          </a:xfrm>
          <a:prstGeom prst="rect">
            <a:avLst/>
          </a:prstGeom>
          <a:noFill/>
        </p:spPr>
        <p:txBody>
          <a:bodyPr wrap="square" lIns="0" rIns="0" tIns="0" bIns="0" anchor="t">
            <a:spAutoFit/>
          </a:bodyPr>
          <a:lstStyle/>
          <a:p>
            <a:pPr algn="l"/>
            <a:r>
              <a:rPr sz="3000" b="1" i="0">
                <a:solidFill>
                  <a:srgbClr val="1F2A2E"/>
                </a:solidFill>
                <a:latin typeface="Calibri"/>
              </a:rPr>
              <a:t>What exists, and where it falls short here</a:t>
            </a:r>
          </a:p>
        </p:txBody>
      </p:sp>
      <p:graphicFrame>
        <p:nvGraphicFramePr>
          <p:cNvPr id="5" name="Table 4"/>
          <p:cNvGraphicFramePr>
            <a:graphicFrameLocks noGrp="1"/>
          </p:cNvGraphicFramePr>
          <p:nvPr/>
        </p:nvGraphicFramePr>
        <p:xfrm>
          <a:off x="548640" y="1618488"/>
          <a:ext cx="11091672" cy="3803904"/>
        </p:xfrm>
        <a:graphic>
          <a:graphicData uri="http://schemas.openxmlformats.org/drawingml/2006/table">
            <a:tbl>
              <a:tblPr firstRow="0" bandRow="0">
                <a:tableStyleId>{2D5ABB26-0587-4C30-8999-92F81FD0307C}</a:tableStyleId>
              </a:tblPr>
              <a:tblGrid>
                <a:gridCol w="2926080"/>
                <a:gridCol w="3017520"/>
                <a:gridCol w="3127248"/>
                <a:gridCol w="1170432"/>
                <a:gridCol w="850392"/>
              </a:tblGrid>
              <a:tr h="475488">
                <a:tc>
                  <a:txBody>
                    <a:bodyPr wrap="square"/>
                    <a:lstStyle/>
                    <a:p>
                      <a:pPr algn="l"/>
                      <a:r>
                        <a:rPr sz="1250" b="1">
                          <a:solidFill>
                            <a:srgbClr val="4E5B62"/>
                          </a:solidFill>
                          <a:latin typeface="Calibri"/>
                        </a:rPr>
                        <a:t>Approach</a:t>
                      </a:r>
                    </a:p>
                  </a:txBody>
                  <a:tcPr marL="73152" marR="73152" marT="27432" marB="27432" anchor="ctr">
                    <a:solidFill>
                      <a:srgbClr val="F1F4F3"/>
                    </a:solidFill>
                    <a:lnL w="0">
                      <a:noFill/>
                    </a:lnL>
                    <a:lnR w="0">
                      <a:noFill/>
                    </a:lnR>
                    <a:lnT w="0">
                      <a:noFill/>
                    </a:lnT>
                    <a:lnB w="9525">
                      <a:solidFill>
                        <a:srgbClr val="D5DCD9"/>
                      </a:solidFill>
                    </a:lnB>
                  </a:tcPr>
                </a:tc>
                <a:tc>
                  <a:txBody>
                    <a:bodyPr wrap="square"/>
                    <a:lstStyle/>
                    <a:p>
                      <a:pPr algn="l"/>
                      <a:r>
                        <a:rPr sz="1250" b="1">
                          <a:solidFill>
                            <a:srgbClr val="4E5B62"/>
                          </a:solidFill>
                          <a:latin typeface="Calibri"/>
                        </a:rPr>
                        <a:t>Key idea</a:t>
                      </a:r>
                    </a:p>
                  </a:txBody>
                  <a:tcPr marL="73152" marR="73152" marT="27432" marB="27432" anchor="ctr">
                    <a:solidFill>
                      <a:srgbClr val="F1F4F3"/>
                    </a:solidFill>
                    <a:lnL w="0">
                      <a:noFill/>
                    </a:lnL>
                    <a:lnR w="0">
                      <a:noFill/>
                    </a:lnR>
                    <a:lnT w="0">
                      <a:noFill/>
                    </a:lnT>
                    <a:lnB w="9525">
                      <a:solidFill>
                        <a:srgbClr val="D5DCD9"/>
                      </a:solidFill>
                    </a:lnB>
                  </a:tcPr>
                </a:tc>
                <a:tc>
                  <a:txBody>
                    <a:bodyPr wrap="square"/>
                    <a:lstStyle/>
                    <a:p>
                      <a:pPr algn="l"/>
                      <a:r>
                        <a:rPr sz="1250" b="1">
                          <a:solidFill>
                            <a:srgbClr val="4E5B62"/>
                          </a:solidFill>
                          <a:latin typeface="Calibri"/>
                        </a:rPr>
                        <a:t>Limitation for rural roads on the edge</a:t>
                      </a:r>
                    </a:p>
                  </a:txBody>
                  <a:tcPr marL="73152" marR="73152" marT="27432" marB="27432" anchor="ctr">
                    <a:solidFill>
                      <a:srgbClr val="F1F4F3"/>
                    </a:solidFill>
                    <a:lnL w="0">
                      <a:noFill/>
                    </a:lnL>
                    <a:lnR w="0">
                      <a:noFill/>
                    </a:lnR>
                    <a:lnT w="0">
                      <a:noFill/>
                    </a:lnT>
                    <a:lnB w="9525">
                      <a:solidFill>
                        <a:srgbClr val="D5DCD9"/>
                      </a:solidFill>
                    </a:lnB>
                  </a:tcPr>
                </a:tc>
                <a:tc>
                  <a:txBody>
                    <a:bodyPr wrap="square"/>
                    <a:lstStyle/>
                    <a:p>
                      <a:pPr algn="r"/>
                      <a:r>
                        <a:rPr sz="1250" b="1">
                          <a:solidFill>
                            <a:srgbClr val="4E5B62"/>
                          </a:solidFill>
                          <a:latin typeface="Calibri"/>
                        </a:rPr>
                        <a:t>Params*</a:t>
                      </a:r>
                    </a:p>
                  </a:txBody>
                  <a:tcPr marL="73152" marR="73152" marT="27432" marB="27432" anchor="ctr">
                    <a:solidFill>
                      <a:srgbClr val="F1F4F3"/>
                    </a:solidFill>
                    <a:lnL w="0">
                      <a:noFill/>
                    </a:lnL>
                    <a:lnR w="0">
                      <a:noFill/>
                    </a:lnR>
                    <a:lnT w="0">
                      <a:noFill/>
                    </a:lnT>
                    <a:lnB w="9525">
                      <a:solidFill>
                        <a:srgbClr val="D5DCD9"/>
                      </a:solidFill>
                    </a:lnB>
                  </a:tcPr>
                </a:tc>
                <a:tc>
                  <a:txBody>
                    <a:bodyPr wrap="square"/>
                    <a:lstStyle/>
                    <a:p>
                      <a:pPr algn="r"/>
                      <a:r>
                        <a:rPr sz="1250" b="1">
                          <a:solidFill>
                            <a:srgbClr val="4E5B62"/>
                          </a:solidFill>
                          <a:latin typeface="Calibri"/>
                        </a:rPr>
                        <a:t>GFLOPs*</a:t>
                      </a:r>
                    </a:p>
                  </a:txBody>
                  <a:tcPr marL="73152" marR="73152" marT="27432" marB="27432" anchor="ctr">
                    <a:solidFill>
                      <a:srgbClr val="F1F4F3"/>
                    </a:solidFill>
                    <a:lnL w="0">
                      <a:noFill/>
                    </a:lnL>
                    <a:lnR w="0">
                      <a:noFill/>
                    </a:lnR>
                    <a:lnT w="0">
                      <a:noFill/>
                    </a:lnT>
                    <a:lnB w="9525">
                      <a:solidFill>
                        <a:srgbClr val="D5DCD9"/>
                      </a:solidFill>
                    </a:lnB>
                  </a:tcPr>
                </a:tc>
              </a:tr>
              <a:tr h="475488">
                <a:tc>
                  <a:txBody>
                    <a:bodyPr wrap="square"/>
                    <a:lstStyle/>
                    <a:p>
                      <a:pPr algn="l"/>
                      <a:r>
                        <a:rPr sz="1250" b="1">
                          <a:solidFill>
                            <a:srgbClr val="1F2A2E"/>
                          </a:solidFill>
                          <a:latin typeface="Calibri"/>
                        </a:rPr>
                        <a:t>U-Net (Ronneberger et al., 2015)</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l"/>
                      <a:r>
                        <a:rPr sz="1250" b="0">
                          <a:solidFill>
                            <a:srgbClr val="1F2A2E"/>
                          </a:solidFill>
                          <a:latin typeface="Calibri"/>
                        </a:rPr>
                        <a:t>Encoder–decoder with skip connections</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l"/>
                      <a:r>
                        <a:rPr sz="1250" b="0">
                          <a:solidFill>
                            <a:srgbClr val="1F2A2E"/>
                          </a:solidFill>
                          <a:latin typeface="Calibri"/>
                        </a:rPr>
                        <a:t>Heavy; pixel-wise loss ignores connectivity</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50" b="0">
                          <a:solidFill>
                            <a:srgbClr val="1F2A2E"/>
                          </a:solidFill>
                          <a:latin typeface="Calibri"/>
                        </a:rPr>
                        <a:t>31.0 M</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50" b="0">
                          <a:solidFill>
                            <a:srgbClr val="1F2A2E"/>
                          </a:solidFill>
                          <a:latin typeface="Calibri"/>
                        </a:rPr>
                        <a:t>1,541</a:t>
                      </a:r>
                    </a:p>
                  </a:txBody>
                  <a:tcPr marL="73152" marR="73152" marT="27432" marB="27432" anchor="ctr">
                    <a:solidFill>
                      <a:srgbClr val="FFFFFF"/>
                    </a:solidFill>
                    <a:lnL w="0">
                      <a:noFill/>
                    </a:lnL>
                    <a:lnR w="0">
                      <a:noFill/>
                    </a:lnR>
                    <a:lnT w="0">
                      <a:noFill/>
                    </a:lnT>
                    <a:lnB w="9525">
                      <a:solidFill>
                        <a:srgbClr val="D5DCD9"/>
                      </a:solidFill>
                    </a:lnB>
                  </a:tcPr>
                </a:tc>
              </a:tr>
              <a:tr h="475488">
                <a:tc>
                  <a:txBody>
                    <a:bodyPr wrap="square"/>
                    <a:lstStyle/>
                    <a:p>
                      <a:pPr algn="l"/>
                      <a:r>
                        <a:rPr sz="1250" b="1">
                          <a:solidFill>
                            <a:srgbClr val="1F2A2E"/>
                          </a:solidFill>
                          <a:latin typeface="Calibri"/>
                        </a:rPr>
                        <a:t>D-LinkNet34 (Zhou et al., 2018)</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l"/>
                      <a:r>
                        <a:rPr sz="1250" b="0">
                          <a:solidFill>
                            <a:srgbClr val="1F2A2E"/>
                          </a:solidFill>
                          <a:latin typeface="Calibri"/>
                        </a:rPr>
                        <a:t>ResNet-34 + dilated centre; DeepGlobe 2018 winner</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l"/>
                      <a:r>
                        <a:rPr sz="1250" b="0">
                          <a:solidFill>
                            <a:srgbClr val="1F2A2E"/>
                          </a:solidFill>
                          <a:latin typeface="Calibri"/>
                        </a:rPr>
                        <a:t>Heavy; no explicit connectivity objective</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50" b="0">
                          <a:solidFill>
                            <a:srgbClr val="1F2A2E"/>
                          </a:solidFill>
                          <a:latin typeface="Calibri"/>
                        </a:rPr>
                        <a:t>31.1 M</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50" b="0">
                          <a:solidFill>
                            <a:srgbClr val="1F2A2E"/>
                          </a:solidFill>
                          <a:latin typeface="Calibri"/>
                        </a:rPr>
                        <a:t>213</a:t>
                      </a:r>
                    </a:p>
                  </a:txBody>
                  <a:tcPr marL="73152" marR="73152" marT="27432" marB="27432" anchor="ctr">
                    <a:solidFill>
                      <a:srgbClr val="FFFFFF"/>
                    </a:solidFill>
                    <a:lnL w="0">
                      <a:noFill/>
                    </a:lnL>
                    <a:lnR w="0">
                      <a:noFill/>
                    </a:lnR>
                    <a:lnT w="0">
                      <a:noFill/>
                    </a:lnT>
                    <a:lnB w="9525">
                      <a:solidFill>
                        <a:srgbClr val="D5DCD9"/>
                      </a:solidFill>
                    </a:lnB>
                  </a:tcPr>
                </a:tc>
              </a:tr>
              <a:tr h="475488">
                <a:tc>
                  <a:txBody>
                    <a:bodyPr wrap="square"/>
                    <a:lstStyle/>
                    <a:p>
                      <a:pPr algn="l"/>
                      <a:r>
                        <a:rPr sz="1250" b="1">
                          <a:solidFill>
                            <a:srgbClr val="1F2A2E"/>
                          </a:solidFill>
                          <a:latin typeface="Calibri"/>
                        </a:rPr>
                        <a:t>DeepLabV3 / LR-ASPP + MobileNetV3</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l"/>
                      <a:r>
                        <a:rPr sz="1250" b="0">
                          <a:solidFill>
                            <a:srgbClr val="1F2A2E"/>
                          </a:solidFill>
                          <a:latin typeface="Calibri"/>
                        </a:rPr>
                        <a:t>Lightweight mobile segmentation heads</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l"/>
                      <a:r>
                        <a:rPr sz="1250" b="0">
                          <a:solidFill>
                            <a:srgbClr val="1F2A2E"/>
                          </a:solidFill>
                          <a:latin typeface="Calibri"/>
                        </a:rPr>
                        <a:t>No topology prior for thin structures</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50" b="0">
                          <a:solidFill>
                            <a:srgbClr val="1F2A2E"/>
                          </a:solidFill>
                          <a:latin typeface="Calibri"/>
                        </a:rPr>
                        <a:t>3.2–11.0 M</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50" b="0">
                          <a:solidFill>
                            <a:srgbClr val="1F2A2E"/>
                          </a:solidFill>
                          <a:latin typeface="Calibri"/>
                        </a:rPr>
                        <a:t>16–79</a:t>
                      </a:r>
                    </a:p>
                  </a:txBody>
                  <a:tcPr marL="73152" marR="73152" marT="27432" marB="27432" anchor="ctr">
                    <a:solidFill>
                      <a:srgbClr val="FFFFFF"/>
                    </a:solidFill>
                    <a:lnL w="0">
                      <a:noFill/>
                    </a:lnL>
                    <a:lnR w="0">
                      <a:noFill/>
                    </a:lnR>
                    <a:lnT w="0">
                      <a:noFill/>
                    </a:lnT>
                    <a:lnB w="9525">
                      <a:solidFill>
                        <a:srgbClr val="D5DCD9"/>
                      </a:solidFill>
                    </a:lnB>
                  </a:tcPr>
                </a:tc>
              </a:tr>
              <a:tr h="475488">
                <a:tc>
                  <a:txBody>
                    <a:bodyPr wrap="square"/>
                    <a:lstStyle/>
                    <a:p>
                      <a:pPr algn="l"/>
                      <a:r>
                        <a:rPr sz="1250" b="1">
                          <a:solidFill>
                            <a:srgbClr val="1F2A2E"/>
                          </a:solidFill>
                          <a:latin typeface="Calibri"/>
                        </a:rPr>
                        <a:t>Vision Transformers (Dosovitskiy et al., 2021)</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l"/>
                      <a:r>
                        <a:rPr sz="1250" b="0">
                          <a:solidFill>
                            <a:srgbClr val="1F2A2E"/>
                          </a:solidFill>
                          <a:latin typeface="Calibri"/>
                        </a:rPr>
                        <a:t>Global context via self-attention</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l"/>
                      <a:r>
                        <a:rPr sz="1250" b="0">
                          <a:solidFill>
                            <a:srgbClr val="1F2A2E"/>
                          </a:solidFill>
                          <a:latin typeface="Calibri"/>
                        </a:rPr>
                        <a:t>Attention cost grows quadratically with image size</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50" b="0">
                          <a:solidFill>
                            <a:srgbClr val="1F2A2E"/>
                          </a:solidFill>
                          <a:latin typeface="Calibri"/>
                        </a:rPr>
                        <a:t>—</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50" b="0">
                          <a:solidFill>
                            <a:srgbClr val="1F2A2E"/>
                          </a:solidFill>
                          <a:latin typeface="Calibri"/>
                        </a:rPr>
                        <a:t>—</a:t>
                      </a:r>
                    </a:p>
                  </a:txBody>
                  <a:tcPr marL="73152" marR="73152" marT="27432" marB="27432" anchor="ctr">
                    <a:solidFill>
                      <a:srgbClr val="FFFFFF"/>
                    </a:solidFill>
                    <a:lnL w="0">
                      <a:noFill/>
                    </a:lnL>
                    <a:lnR w="0">
                      <a:noFill/>
                    </a:lnR>
                    <a:lnT w="0">
                      <a:noFill/>
                    </a:lnT>
                    <a:lnB w="9525">
                      <a:solidFill>
                        <a:srgbClr val="D5DCD9"/>
                      </a:solidFill>
                    </a:lnB>
                  </a:tcPr>
                </a:tc>
              </a:tr>
              <a:tr h="475488">
                <a:tc>
                  <a:txBody>
                    <a:bodyPr wrap="square"/>
                    <a:lstStyle/>
                    <a:p>
                      <a:pPr algn="l"/>
                      <a:r>
                        <a:rPr sz="1250" b="1">
                          <a:solidFill>
                            <a:srgbClr val="1F2A2E"/>
                          </a:solidFill>
                          <a:latin typeface="Calibri"/>
                        </a:rPr>
                        <a:t>clDice loss (Shit et al., 2021)</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l"/>
                      <a:r>
                        <a:rPr sz="1250" b="0">
                          <a:solidFill>
                            <a:srgbClr val="1F2A2E"/>
                          </a:solidFill>
                          <a:latin typeface="Calibri"/>
                        </a:rPr>
                        <a:t>Overlap measured on skeletons (centerlines)</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l"/>
                      <a:r>
                        <a:rPr sz="1250" b="0">
                          <a:solidFill>
                            <a:srgbClr val="1F2A2E"/>
                          </a:solidFill>
                          <a:latin typeface="Calibri"/>
                        </a:rPr>
                        <a:t>A loss, not a model; can reward over-prediction (seen here)</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50" b="0">
                          <a:solidFill>
                            <a:srgbClr val="1F2A2E"/>
                          </a:solidFill>
                          <a:latin typeface="Calibri"/>
                        </a:rPr>
                        <a:t>—</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50" b="0">
                          <a:solidFill>
                            <a:srgbClr val="1F2A2E"/>
                          </a:solidFill>
                          <a:latin typeface="Calibri"/>
                        </a:rPr>
                        <a:t>—</a:t>
                      </a:r>
                    </a:p>
                  </a:txBody>
                  <a:tcPr marL="73152" marR="73152" marT="27432" marB="27432" anchor="ctr">
                    <a:solidFill>
                      <a:srgbClr val="FFFFFF"/>
                    </a:solidFill>
                    <a:lnL w="0">
                      <a:noFill/>
                    </a:lnL>
                    <a:lnR w="0">
                      <a:noFill/>
                    </a:lnR>
                    <a:lnT w="0">
                      <a:noFill/>
                    </a:lnT>
                    <a:lnB w="9525">
                      <a:solidFill>
                        <a:srgbClr val="D5DCD9"/>
                      </a:solidFill>
                    </a:lnB>
                  </a:tcPr>
                </a:tc>
              </a:tr>
              <a:tr h="475488">
                <a:tc>
                  <a:txBody>
                    <a:bodyPr wrap="square"/>
                    <a:lstStyle/>
                    <a:p>
                      <a:pPr algn="l"/>
                      <a:r>
                        <a:rPr sz="1250" b="1">
                          <a:solidFill>
                            <a:srgbClr val="1F2A2E"/>
                          </a:solidFill>
                          <a:latin typeface="Calibri"/>
                        </a:rPr>
                        <a:t>RoadTracer / Sat2Graph (2018 / 2020)</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l"/>
                      <a:r>
                        <a:rPr sz="1250" b="0">
                          <a:solidFill>
                            <a:srgbClr val="1F2A2E"/>
                          </a:solidFill>
                          <a:latin typeface="Calibri"/>
                        </a:rPr>
                        <a:t>Predict the road graph directly</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l"/>
                      <a:r>
                        <a:rPr sz="1250" b="0">
                          <a:solidFill>
                            <a:srgbClr val="1F2A2E"/>
                          </a:solidFill>
                          <a:latin typeface="Calibri"/>
                        </a:rPr>
                        <a:t>Iterative or multi-stage inference; complex to deploy</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50" b="0">
                          <a:solidFill>
                            <a:srgbClr val="1F2A2E"/>
                          </a:solidFill>
                          <a:latin typeface="Calibri"/>
                        </a:rPr>
                        <a:t>—</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50" b="0">
                          <a:solidFill>
                            <a:srgbClr val="1F2A2E"/>
                          </a:solidFill>
                          <a:latin typeface="Calibri"/>
                        </a:rPr>
                        <a:t>—</a:t>
                      </a:r>
                    </a:p>
                  </a:txBody>
                  <a:tcPr marL="73152" marR="73152" marT="27432" marB="27432" anchor="ctr">
                    <a:solidFill>
                      <a:srgbClr val="FFFFFF"/>
                    </a:solidFill>
                    <a:lnL w="0">
                      <a:noFill/>
                    </a:lnL>
                    <a:lnR w="0">
                      <a:noFill/>
                    </a:lnR>
                    <a:lnT w="0">
                      <a:noFill/>
                    </a:lnT>
                    <a:lnB w="9525">
                      <a:solidFill>
                        <a:srgbClr val="D5DCD9"/>
                      </a:solidFill>
                    </a:lnB>
                  </a:tcPr>
                </a:tc>
              </a:tr>
              <a:tr h="475488">
                <a:tc>
                  <a:txBody>
                    <a:bodyPr wrap="square"/>
                    <a:lstStyle/>
                    <a:p>
                      <a:pPr algn="l"/>
                      <a:r>
                        <a:rPr sz="1250" b="1">
                          <a:solidFill>
                            <a:srgbClr val="1F2A2E"/>
                          </a:solidFill>
                          <a:latin typeface="Calibri"/>
                        </a:rPr>
                        <a:t>This work</a:t>
                      </a:r>
                    </a:p>
                  </a:txBody>
                  <a:tcPr marL="73152" marR="73152" marT="27432" marB="27432" anchor="ctr">
                    <a:solidFill>
                      <a:srgbClr val="EAF2EE"/>
                    </a:solidFill>
                    <a:lnL w="0">
                      <a:noFill/>
                    </a:lnL>
                    <a:lnR w="0">
                      <a:noFill/>
                    </a:lnR>
                    <a:lnT w="0">
                      <a:noFill/>
                    </a:lnT>
                    <a:lnB w="9525">
                      <a:solidFill>
                        <a:srgbClr val="D5DCD9"/>
                      </a:solidFill>
                    </a:lnB>
                  </a:tcPr>
                </a:tc>
                <a:tc>
                  <a:txBody>
                    <a:bodyPr wrap="square"/>
                    <a:lstStyle/>
                    <a:p>
                      <a:pPr algn="l"/>
                      <a:r>
                        <a:rPr sz="1250" b="1">
                          <a:solidFill>
                            <a:srgbClr val="1F2A2E"/>
                          </a:solidFill>
                          <a:latin typeface="Calibri"/>
                        </a:rPr>
                        <a:t>MobileViT v2 + strip conv + clDice + gap bridging</a:t>
                      </a:r>
                    </a:p>
                  </a:txBody>
                  <a:tcPr marL="73152" marR="73152" marT="27432" marB="27432" anchor="ctr">
                    <a:solidFill>
                      <a:srgbClr val="EAF2EE"/>
                    </a:solidFill>
                    <a:lnL w="0">
                      <a:noFill/>
                    </a:lnL>
                    <a:lnR w="0">
                      <a:noFill/>
                    </a:lnR>
                    <a:lnT w="0">
                      <a:noFill/>
                    </a:lnT>
                    <a:lnB w="9525">
                      <a:solidFill>
                        <a:srgbClr val="D5DCD9"/>
                      </a:solidFill>
                    </a:lnB>
                  </a:tcPr>
                </a:tc>
                <a:tc>
                  <a:txBody>
                    <a:bodyPr wrap="square"/>
                    <a:lstStyle/>
                    <a:p>
                      <a:pPr algn="l"/>
                      <a:r>
                        <a:rPr sz="1250" b="1">
                          <a:solidFill>
                            <a:srgbClr val="1F2A2E"/>
                          </a:solidFill>
                          <a:latin typeface="Calibri"/>
                        </a:rPr>
                        <a:t>—</a:t>
                      </a:r>
                    </a:p>
                  </a:txBody>
                  <a:tcPr marL="73152" marR="73152" marT="27432" marB="27432" anchor="ctr">
                    <a:solidFill>
                      <a:srgbClr val="EAF2EE"/>
                    </a:solidFill>
                    <a:lnL w="0">
                      <a:noFill/>
                    </a:lnL>
                    <a:lnR w="0">
                      <a:noFill/>
                    </a:lnR>
                    <a:lnT w="0">
                      <a:noFill/>
                    </a:lnT>
                    <a:lnB w="9525">
                      <a:solidFill>
                        <a:srgbClr val="D5DCD9"/>
                      </a:solidFill>
                    </a:lnB>
                  </a:tcPr>
                </a:tc>
                <a:tc>
                  <a:txBody>
                    <a:bodyPr wrap="square"/>
                    <a:lstStyle/>
                    <a:p>
                      <a:pPr algn="r"/>
                      <a:r>
                        <a:rPr sz="1250" b="1">
                          <a:solidFill>
                            <a:srgbClr val="1F2A2E"/>
                          </a:solidFill>
                          <a:latin typeface="Calibri"/>
                        </a:rPr>
                        <a:t>1.6 M</a:t>
                      </a:r>
                    </a:p>
                  </a:txBody>
                  <a:tcPr marL="73152" marR="73152" marT="27432" marB="27432" anchor="ctr">
                    <a:solidFill>
                      <a:srgbClr val="EAF2EE"/>
                    </a:solidFill>
                    <a:lnL w="0">
                      <a:noFill/>
                    </a:lnL>
                    <a:lnR w="0">
                      <a:noFill/>
                    </a:lnR>
                    <a:lnT w="0">
                      <a:noFill/>
                    </a:lnT>
                    <a:lnB w="9525">
                      <a:solidFill>
                        <a:srgbClr val="D5DCD9"/>
                      </a:solidFill>
                    </a:lnB>
                  </a:tcPr>
                </a:tc>
                <a:tc>
                  <a:txBody>
                    <a:bodyPr wrap="square"/>
                    <a:lstStyle/>
                    <a:p>
                      <a:pPr algn="r"/>
                      <a:r>
                        <a:rPr sz="1250" b="1">
                          <a:solidFill>
                            <a:srgbClr val="1F2A2E"/>
                          </a:solidFill>
                          <a:latin typeface="Calibri"/>
                        </a:rPr>
                        <a:t>61</a:t>
                      </a:r>
                    </a:p>
                  </a:txBody>
                  <a:tcPr marL="73152" marR="73152" marT="27432" marB="27432" anchor="ctr">
                    <a:solidFill>
                      <a:srgbClr val="EAF2EE"/>
                    </a:solidFill>
                    <a:lnL w="0">
                      <a:noFill/>
                    </a:lnL>
                    <a:lnR w="0">
                      <a:noFill/>
                    </a:lnR>
                    <a:lnT w="0">
                      <a:noFill/>
                    </a:lnT>
                    <a:lnB w="9525">
                      <a:solidFill>
                        <a:srgbClr val="D5DCD9"/>
                      </a:solidFill>
                    </a:lnB>
                  </a:tcPr>
                </a:tc>
              </a:tr>
            </a:tbl>
          </a:graphicData>
        </a:graphic>
      </p:graphicFrame>
      <p:sp>
        <p:nvSpPr>
          <p:cNvPr id="6" name="TextBox 5"/>
          <p:cNvSpPr txBox="1"/>
          <p:nvPr/>
        </p:nvSpPr>
        <p:spPr>
          <a:xfrm>
            <a:off x="548640" y="5532120"/>
            <a:ext cx="11094415" cy="274320"/>
          </a:xfrm>
          <a:prstGeom prst="rect">
            <a:avLst/>
          </a:prstGeom>
          <a:noFill/>
        </p:spPr>
        <p:txBody>
          <a:bodyPr wrap="square" lIns="0" rIns="0" tIns="0" bIns="0" anchor="t">
            <a:spAutoFit/>
          </a:bodyPr>
          <a:lstStyle/>
          <a:p>
            <a:pPr algn="l"/>
            <a:r>
              <a:rPr sz="1100" b="0" i="0">
                <a:solidFill>
                  <a:srgbClr val="86919A"/>
                </a:solidFill>
                <a:latin typeface="Calibri"/>
              </a:rPr>
              <a:t>* Measured on the same CPU (Intel i5-1035G4) per 1024² tile with untrained models: compute cost only. Accuracy of the reference models was not measured.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73952"/>
            <a:ext cx="914400" cy="228600"/>
          </a:xfrm>
          <a:prstGeom prst="rect">
            <a:avLst/>
          </a:prstGeom>
          <a:noFill/>
        </p:spPr>
        <p:txBody>
          <a:bodyPr wrap="square" lIns="0" rIns="0" tIns="0" bIns="0" anchor="t">
            <a:spAutoFit/>
          </a:bodyPr>
          <a:lstStyle/>
          <a:p>
            <a:pPr algn="r"/>
            <a:r>
              <a:rPr sz="1000" b="0" i="0">
                <a:solidFill>
                  <a:srgbClr val="86919A"/>
                </a:solidFill>
                <a:latin typeface="Calibri"/>
              </a:rPr>
              <a:t>5</a:t>
            </a:r>
          </a:p>
        </p:txBody>
      </p:sp>
      <p:sp>
        <p:nvSpPr>
          <p:cNvPr id="3" name="TextBox 2"/>
          <p:cNvSpPr txBox="1"/>
          <p:nvPr/>
        </p:nvSpPr>
        <p:spPr>
          <a:xfrm>
            <a:off x="548640" y="384048"/>
            <a:ext cx="7315200" cy="274320"/>
          </a:xfrm>
          <a:prstGeom prst="rect">
            <a:avLst/>
          </a:prstGeom>
          <a:noFill/>
        </p:spPr>
        <p:txBody>
          <a:bodyPr wrap="square" lIns="0" rIns="0" tIns="0" bIns="0" anchor="t">
            <a:spAutoFit/>
          </a:bodyPr>
          <a:lstStyle/>
          <a:p>
            <a:pPr algn="l"/>
            <a:r>
              <a:rPr sz="1100" b="1" i="0" spc="120">
                <a:solidFill>
                  <a:srgbClr val="2F7D5B"/>
                </a:solidFill>
                <a:latin typeface="Calibri"/>
              </a:rPr>
              <a:t>04 · DATA</a:t>
            </a:r>
          </a:p>
        </p:txBody>
      </p:sp>
      <p:sp>
        <p:nvSpPr>
          <p:cNvPr id="4" name="TextBox 3"/>
          <p:cNvSpPr txBox="1"/>
          <p:nvPr/>
        </p:nvSpPr>
        <p:spPr>
          <a:xfrm>
            <a:off x="548640" y="658368"/>
            <a:ext cx="11094415" cy="566928"/>
          </a:xfrm>
          <a:prstGeom prst="rect">
            <a:avLst/>
          </a:prstGeom>
          <a:noFill/>
        </p:spPr>
        <p:txBody>
          <a:bodyPr wrap="square" lIns="0" rIns="0" tIns="0" bIns="0" anchor="t">
            <a:spAutoFit/>
          </a:bodyPr>
          <a:lstStyle/>
          <a:p>
            <a:pPr algn="l"/>
            <a:r>
              <a:rPr sz="3000" b="1" i="0">
                <a:solidFill>
                  <a:srgbClr val="1F2A2E"/>
                </a:solidFill>
                <a:latin typeface="Calibri"/>
              </a:rPr>
              <a:t>DeepGlobe Road Extraction dataset</a:t>
            </a:r>
          </a:p>
        </p:txBody>
      </p:sp>
      <p:sp>
        <p:nvSpPr>
          <p:cNvPr id="5" name="TextBox 4"/>
          <p:cNvSpPr txBox="1"/>
          <p:nvPr/>
        </p:nvSpPr>
        <p:spPr>
          <a:xfrm>
            <a:off x="548640" y="1618488"/>
            <a:ext cx="2651760" cy="502920"/>
          </a:xfrm>
          <a:prstGeom prst="rect">
            <a:avLst/>
          </a:prstGeom>
          <a:noFill/>
        </p:spPr>
        <p:txBody>
          <a:bodyPr wrap="square" lIns="0" rIns="0" tIns="0" bIns="0" anchor="t">
            <a:spAutoFit/>
          </a:bodyPr>
          <a:lstStyle/>
          <a:p>
            <a:pPr algn="l"/>
            <a:r>
              <a:rPr sz="2800" b="1" i="0">
                <a:solidFill>
                  <a:srgbClr val="2F7D5B"/>
                </a:solidFill>
                <a:latin typeface="Calibri"/>
              </a:rPr>
              <a:t>6,226</a:t>
            </a:r>
          </a:p>
        </p:txBody>
      </p:sp>
      <p:sp>
        <p:nvSpPr>
          <p:cNvPr id="6" name="TextBox 5"/>
          <p:cNvSpPr txBox="1"/>
          <p:nvPr/>
        </p:nvSpPr>
        <p:spPr>
          <a:xfrm>
            <a:off x="548640" y="2148840"/>
            <a:ext cx="2651760" cy="548640"/>
          </a:xfrm>
          <a:prstGeom prst="rect">
            <a:avLst/>
          </a:prstGeom>
          <a:noFill/>
        </p:spPr>
        <p:txBody>
          <a:bodyPr wrap="square" lIns="0" rIns="0" tIns="0" bIns="0" anchor="t">
            <a:spAutoFit/>
          </a:bodyPr>
          <a:lstStyle/>
          <a:p>
            <a:pPr algn="l"/>
            <a:r>
              <a:rPr sz="1200" b="0" i="0">
                <a:solidFill>
                  <a:srgbClr val="4E5B62"/>
                </a:solidFill>
                <a:latin typeface="Calibri"/>
              </a:rPr>
              <a:t>labelled satellite tiles</a:t>
            </a:r>
          </a:p>
        </p:txBody>
      </p:sp>
      <p:sp>
        <p:nvSpPr>
          <p:cNvPr id="7" name="TextBox 6"/>
          <p:cNvSpPr txBox="1"/>
          <p:nvPr/>
        </p:nvSpPr>
        <p:spPr>
          <a:xfrm>
            <a:off x="3337560" y="1618488"/>
            <a:ext cx="2651760" cy="502920"/>
          </a:xfrm>
          <a:prstGeom prst="rect">
            <a:avLst/>
          </a:prstGeom>
          <a:noFill/>
        </p:spPr>
        <p:txBody>
          <a:bodyPr wrap="square" lIns="0" rIns="0" tIns="0" bIns="0" anchor="t">
            <a:spAutoFit/>
          </a:bodyPr>
          <a:lstStyle/>
          <a:p>
            <a:pPr algn="l"/>
            <a:r>
              <a:rPr sz="2800" b="1" i="0">
                <a:solidFill>
                  <a:srgbClr val="2F7D5B"/>
                </a:solidFill>
                <a:latin typeface="Calibri"/>
              </a:rPr>
              <a:t>1024²</a:t>
            </a:r>
          </a:p>
        </p:txBody>
      </p:sp>
      <p:sp>
        <p:nvSpPr>
          <p:cNvPr id="8" name="TextBox 7"/>
          <p:cNvSpPr txBox="1"/>
          <p:nvPr/>
        </p:nvSpPr>
        <p:spPr>
          <a:xfrm>
            <a:off x="3337560" y="2148840"/>
            <a:ext cx="2651760" cy="548640"/>
          </a:xfrm>
          <a:prstGeom prst="rect">
            <a:avLst/>
          </a:prstGeom>
          <a:noFill/>
        </p:spPr>
        <p:txBody>
          <a:bodyPr wrap="square" lIns="0" rIns="0" tIns="0" bIns="0" anchor="t">
            <a:spAutoFit/>
          </a:bodyPr>
          <a:lstStyle/>
          <a:p>
            <a:pPr algn="l"/>
            <a:r>
              <a:rPr sz="1200" b="0" i="0">
                <a:solidFill>
                  <a:srgbClr val="4E5B62"/>
                </a:solidFill>
                <a:latin typeface="Calibri"/>
              </a:rPr>
              <a:t>pixels per tile</a:t>
            </a:r>
          </a:p>
        </p:txBody>
      </p:sp>
      <p:sp>
        <p:nvSpPr>
          <p:cNvPr id="9" name="TextBox 8"/>
          <p:cNvSpPr txBox="1"/>
          <p:nvPr/>
        </p:nvSpPr>
        <p:spPr>
          <a:xfrm>
            <a:off x="548640" y="2852928"/>
            <a:ext cx="2651760" cy="502920"/>
          </a:xfrm>
          <a:prstGeom prst="rect">
            <a:avLst/>
          </a:prstGeom>
          <a:noFill/>
        </p:spPr>
        <p:txBody>
          <a:bodyPr wrap="square" lIns="0" rIns="0" tIns="0" bIns="0" anchor="t">
            <a:spAutoFit/>
          </a:bodyPr>
          <a:lstStyle/>
          <a:p>
            <a:pPr algn="l"/>
            <a:r>
              <a:rPr sz="2800" b="1" i="0">
                <a:solidFill>
                  <a:srgbClr val="2F7D5B"/>
                </a:solidFill>
                <a:latin typeface="Calibri"/>
              </a:rPr>
              <a:t>0.5 m</a:t>
            </a:r>
          </a:p>
        </p:txBody>
      </p:sp>
      <p:sp>
        <p:nvSpPr>
          <p:cNvPr id="10" name="TextBox 9"/>
          <p:cNvSpPr txBox="1"/>
          <p:nvPr/>
        </p:nvSpPr>
        <p:spPr>
          <a:xfrm>
            <a:off x="548640" y="3383280"/>
            <a:ext cx="2651760" cy="548640"/>
          </a:xfrm>
          <a:prstGeom prst="rect">
            <a:avLst/>
          </a:prstGeom>
          <a:noFill/>
        </p:spPr>
        <p:txBody>
          <a:bodyPr wrap="square" lIns="0" rIns="0" tIns="0" bIns="0" anchor="t">
            <a:spAutoFit/>
          </a:bodyPr>
          <a:lstStyle/>
          <a:p>
            <a:pPr algn="l"/>
            <a:r>
              <a:rPr sz="1200" b="0" i="0">
                <a:solidFill>
                  <a:srgbClr val="4E5B62"/>
                </a:solidFill>
                <a:latin typeface="Calibri"/>
              </a:rPr>
              <a:t>ground distance per pixel</a:t>
            </a:r>
          </a:p>
        </p:txBody>
      </p:sp>
      <p:sp>
        <p:nvSpPr>
          <p:cNvPr id="11" name="TextBox 10"/>
          <p:cNvSpPr txBox="1"/>
          <p:nvPr/>
        </p:nvSpPr>
        <p:spPr>
          <a:xfrm>
            <a:off x="3337560" y="2852928"/>
            <a:ext cx="2651760" cy="502920"/>
          </a:xfrm>
          <a:prstGeom prst="rect">
            <a:avLst/>
          </a:prstGeom>
          <a:noFill/>
        </p:spPr>
        <p:txBody>
          <a:bodyPr wrap="square" lIns="0" rIns="0" tIns="0" bIns="0" anchor="t">
            <a:spAutoFit/>
          </a:bodyPr>
          <a:lstStyle/>
          <a:p>
            <a:pPr algn="l"/>
            <a:r>
              <a:rPr sz="2800" b="1" i="0">
                <a:solidFill>
                  <a:srgbClr val="2F7D5B"/>
                </a:solidFill>
                <a:latin typeface="Calibri"/>
              </a:rPr>
              <a:t>5,604 / 622</a:t>
            </a:r>
          </a:p>
        </p:txBody>
      </p:sp>
      <p:sp>
        <p:nvSpPr>
          <p:cNvPr id="12" name="TextBox 11"/>
          <p:cNvSpPr txBox="1"/>
          <p:nvPr/>
        </p:nvSpPr>
        <p:spPr>
          <a:xfrm>
            <a:off x="3337560" y="3383280"/>
            <a:ext cx="2651760" cy="548640"/>
          </a:xfrm>
          <a:prstGeom prst="rect">
            <a:avLst/>
          </a:prstGeom>
          <a:noFill/>
        </p:spPr>
        <p:txBody>
          <a:bodyPr wrap="square" lIns="0" rIns="0" tIns="0" bIns="0" anchor="t">
            <a:spAutoFit/>
          </a:bodyPr>
          <a:lstStyle/>
          <a:p>
            <a:pPr algn="l"/>
            <a:r>
              <a:rPr sz="1200" b="0" i="0">
                <a:solidFill>
                  <a:srgbClr val="4E5B62"/>
                </a:solidFill>
                <a:latin typeface="Calibri"/>
              </a:rPr>
              <a:t>train / validation tiles</a:t>
            </a:r>
          </a:p>
        </p:txBody>
      </p:sp>
      <p:sp>
        <p:nvSpPr>
          <p:cNvPr id="13" name="TextBox 12"/>
          <p:cNvSpPr txBox="1"/>
          <p:nvPr/>
        </p:nvSpPr>
        <p:spPr>
          <a:xfrm>
            <a:off x="548640" y="4178808"/>
            <a:ext cx="5394960" cy="2377440"/>
          </a:xfrm>
          <a:prstGeom prst="rect">
            <a:avLst/>
          </a:prstGeom>
          <a:noFill/>
        </p:spPr>
        <p:txBody>
          <a:bodyPr wrap="square" lIns="0" rIns="0" tIns="0" bIns="0">
            <a:spAutoFit/>
          </a:bodyPr>
          <a:lstStyle/>
          <a:p>
            <a:pPr marL="219456" indent="-219456">
              <a:spcBef>
                <a:spcPts val="800"/>
              </a:spcBef>
              <a:buClr>
                <a:srgbClr val="2F7D5B"/>
              </a:buClr>
              <a:buFont typeface="Arial"/>
              <a:buChar char="•"/>
            </a:pPr>
            <a:r>
              <a:rPr sz="1400" b="0">
                <a:solidFill>
                  <a:srgbClr val="1F2A2E"/>
                </a:solidFill>
                <a:latin typeface="Calibri"/>
              </a:rPr>
              <a:t>Demir et al., CVPR Workshops 2018; imagery of Thailand, Indonesia and India with binary road masks.</a:t>
            </a:r>
          </a:p>
          <a:p>
            <a:pPr marL="219456" indent="-219456">
              <a:spcBef>
                <a:spcPts val="800"/>
              </a:spcBef>
              <a:buClr>
                <a:srgbClr val="2F7D5B"/>
              </a:buClr>
              <a:buFont typeface="Arial"/>
              <a:buChar char="•"/>
            </a:pPr>
            <a:r>
              <a:rPr sz="1400" b="0">
                <a:solidFill>
                  <a:srgbClr val="1F2A2E"/>
                </a:solidFill>
                <a:latin typeface="Calibri"/>
              </a:rPr>
              <a:t>The official validation and test sets have no public masks, so a held-out 10% of the labelled set (seed 42) is used for validation.</a:t>
            </a:r>
          </a:p>
          <a:p>
            <a:pPr marL="219456" indent="-219456">
              <a:spcBef>
                <a:spcPts val="800"/>
              </a:spcBef>
              <a:buClr>
                <a:srgbClr val="2F7D5B"/>
              </a:buClr>
              <a:buFont typeface="Arial"/>
              <a:buChar char="•"/>
            </a:pPr>
            <a:r>
              <a:rPr sz="1400" b="0">
                <a:solidFill>
                  <a:srgbClr val="1F2A2E"/>
                </a:solidFill>
                <a:latin typeface="Calibri"/>
              </a:rPr>
              <a:t>Training samples random 256² crops at native resolution, with flips and brightness / colour jitter.</a:t>
            </a:r>
          </a:p>
        </p:txBody>
      </p:sp>
      <p:pic>
        <p:nvPicPr>
          <p:cNvPr id="14" name="Picture 13" descr="tile_100034.jpg"/>
          <p:cNvPicPr>
            <a:picLocks noChangeAspect="1"/>
          </p:cNvPicPr>
          <p:nvPr/>
        </p:nvPicPr>
        <p:blipFill>
          <a:blip r:embed="rId2"/>
          <a:stretch>
            <a:fillRect/>
          </a:stretch>
        </p:blipFill>
        <p:spPr>
          <a:xfrm>
            <a:off x="6720840" y="1618488"/>
            <a:ext cx="2103120" cy="2103120"/>
          </a:xfrm>
          <a:prstGeom prst="rect">
            <a:avLst/>
          </a:prstGeom>
          <a:ln w="9525">
            <a:solidFill>
              <a:srgbClr val="D5DCD9"/>
            </a:solidFill>
          </a:ln>
        </p:spPr>
      </p:pic>
      <p:sp>
        <p:nvSpPr>
          <p:cNvPr id="15" name="TextBox 14"/>
          <p:cNvSpPr txBox="1"/>
          <p:nvPr/>
        </p:nvSpPr>
        <p:spPr>
          <a:xfrm>
            <a:off x="6720840" y="3767328"/>
            <a:ext cx="2103120" cy="274320"/>
          </a:xfrm>
          <a:prstGeom prst="rect">
            <a:avLst/>
          </a:prstGeom>
          <a:noFill/>
        </p:spPr>
        <p:txBody>
          <a:bodyPr wrap="square" lIns="0" rIns="0" tIns="0" bIns="0" anchor="t">
            <a:spAutoFit/>
          </a:bodyPr>
          <a:lstStyle/>
          <a:p>
            <a:pPr algn="l"/>
            <a:r>
              <a:rPr sz="1000" b="0" i="0">
                <a:solidFill>
                  <a:srgbClr val="86919A"/>
                </a:solidFill>
                <a:latin typeface="Calibri"/>
              </a:rPr>
              <a:t>Tile 100034</a:t>
            </a:r>
          </a:p>
        </p:txBody>
      </p:sp>
      <p:pic>
        <p:nvPicPr>
          <p:cNvPr id="16" name="Picture 15" descr="tile_102408.jpg"/>
          <p:cNvPicPr>
            <a:picLocks noChangeAspect="1"/>
          </p:cNvPicPr>
          <p:nvPr/>
        </p:nvPicPr>
        <p:blipFill>
          <a:blip r:embed="rId3"/>
          <a:stretch>
            <a:fillRect/>
          </a:stretch>
        </p:blipFill>
        <p:spPr>
          <a:xfrm>
            <a:off x="9006840" y="1618488"/>
            <a:ext cx="2103120" cy="2103120"/>
          </a:xfrm>
          <a:prstGeom prst="rect">
            <a:avLst/>
          </a:prstGeom>
          <a:ln w="9525">
            <a:solidFill>
              <a:srgbClr val="D5DCD9"/>
            </a:solidFill>
          </a:ln>
        </p:spPr>
      </p:pic>
      <p:sp>
        <p:nvSpPr>
          <p:cNvPr id="17" name="TextBox 16"/>
          <p:cNvSpPr txBox="1"/>
          <p:nvPr/>
        </p:nvSpPr>
        <p:spPr>
          <a:xfrm>
            <a:off x="9006840" y="3767328"/>
            <a:ext cx="2103120" cy="274320"/>
          </a:xfrm>
          <a:prstGeom prst="rect">
            <a:avLst/>
          </a:prstGeom>
          <a:noFill/>
        </p:spPr>
        <p:txBody>
          <a:bodyPr wrap="square" lIns="0" rIns="0" tIns="0" bIns="0" anchor="t">
            <a:spAutoFit/>
          </a:bodyPr>
          <a:lstStyle/>
          <a:p>
            <a:pPr algn="l"/>
            <a:r>
              <a:rPr sz="1000" b="0" i="0">
                <a:solidFill>
                  <a:srgbClr val="86919A"/>
                </a:solidFill>
                <a:latin typeface="Calibri"/>
              </a:rPr>
              <a:t>Tile 102408</a:t>
            </a:r>
          </a:p>
        </p:txBody>
      </p:sp>
      <p:pic>
        <p:nvPicPr>
          <p:cNvPr id="18" name="Picture 17" descr="tile_115714.jpg"/>
          <p:cNvPicPr>
            <a:picLocks noChangeAspect="1"/>
          </p:cNvPicPr>
          <p:nvPr/>
        </p:nvPicPr>
        <p:blipFill>
          <a:blip r:embed="rId4"/>
          <a:stretch>
            <a:fillRect/>
          </a:stretch>
        </p:blipFill>
        <p:spPr>
          <a:xfrm>
            <a:off x="6720840" y="4105656"/>
            <a:ext cx="2103120" cy="2103120"/>
          </a:xfrm>
          <a:prstGeom prst="rect">
            <a:avLst/>
          </a:prstGeom>
          <a:ln w="9525">
            <a:solidFill>
              <a:srgbClr val="D5DCD9"/>
            </a:solidFill>
          </a:ln>
        </p:spPr>
      </p:pic>
      <p:sp>
        <p:nvSpPr>
          <p:cNvPr id="19" name="TextBox 18"/>
          <p:cNvSpPr txBox="1"/>
          <p:nvPr/>
        </p:nvSpPr>
        <p:spPr>
          <a:xfrm>
            <a:off x="6720840" y="6254496"/>
            <a:ext cx="2103120" cy="274320"/>
          </a:xfrm>
          <a:prstGeom prst="rect">
            <a:avLst/>
          </a:prstGeom>
          <a:noFill/>
        </p:spPr>
        <p:txBody>
          <a:bodyPr wrap="square" lIns="0" rIns="0" tIns="0" bIns="0" anchor="t">
            <a:spAutoFit/>
          </a:bodyPr>
          <a:lstStyle/>
          <a:p>
            <a:pPr algn="l"/>
            <a:r>
              <a:rPr sz="1000" b="0" i="0">
                <a:solidFill>
                  <a:srgbClr val="86919A"/>
                </a:solidFill>
                <a:latin typeface="Calibri"/>
              </a:rPr>
              <a:t>Tile 115714</a:t>
            </a:r>
          </a:p>
        </p:txBody>
      </p:sp>
      <p:pic>
        <p:nvPicPr>
          <p:cNvPr id="20" name="Picture 19" descr="tile_117991.jpg"/>
          <p:cNvPicPr>
            <a:picLocks noChangeAspect="1"/>
          </p:cNvPicPr>
          <p:nvPr/>
        </p:nvPicPr>
        <p:blipFill>
          <a:blip r:embed="rId5"/>
          <a:stretch>
            <a:fillRect/>
          </a:stretch>
        </p:blipFill>
        <p:spPr>
          <a:xfrm>
            <a:off x="9006840" y="4105656"/>
            <a:ext cx="2103120" cy="2103120"/>
          </a:xfrm>
          <a:prstGeom prst="rect">
            <a:avLst/>
          </a:prstGeom>
          <a:ln w="9525">
            <a:solidFill>
              <a:srgbClr val="D5DCD9"/>
            </a:solidFill>
          </a:ln>
        </p:spPr>
      </p:pic>
      <p:sp>
        <p:nvSpPr>
          <p:cNvPr id="21" name="TextBox 20"/>
          <p:cNvSpPr txBox="1"/>
          <p:nvPr/>
        </p:nvSpPr>
        <p:spPr>
          <a:xfrm>
            <a:off x="9006840" y="6254496"/>
            <a:ext cx="2103120" cy="274320"/>
          </a:xfrm>
          <a:prstGeom prst="rect">
            <a:avLst/>
          </a:prstGeom>
          <a:noFill/>
        </p:spPr>
        <p:txBody>
          <a:bodyPr wrap="square" lIns="0" rIns="0" tIns="0" bIns="0" anchor="t">
            <a:spAutoFit/>
          </a:bodyPr>
          <a:lstStyle/>
          <a:p>
            <a:pPr algn="l"/>
            <a:r>
              <a:rPr sz="1000" b="0" i="0">
                <a:solidFill>
                  <a:srgbClr val="86919A"/>
                </a:solidFill>
                <a:latin typeface="Calibri"/>
              </a:rPr>
              <a:t>Tile 117991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73952"/>
            <a:ext cx="914400" cy="228600"/>
          </a:xfrm>
          <a:prstGeom prst="rect">
            <a:avLst/>
          </a:prstGeom>
          <a:noFill/>
        </p:spPr>
        <p:txBody>
          <a:bodyPr wrap="square" lIns="0" rIns="0" tIns="0" bIns="0" anchor="t">
            <a:spAutoFit/>
          </a:bodyPr>
          <a:lstStyle/>
          <a:p>
            <a:pPr algn="r"/>
            <a:r>
              <a:rPr sz="1000" b="0" i="0">
                <a:solidFill>
                  <a:srgbClr val="86919A"/>
                </a:solidFill>
                <a:latin typeface="Calibri"/>
              </a:rPr>
              <a:t>6</a:t>
            </a:r>
          </a:p>
        </p:txBody>
      </p:sp>
      <p:sp>
        <p:nvSpPr>
          <p:cNvPr id="3" name="TextBox 2"/>
          <p:cNvSpPr txBox="1"/>
          <p:nvPr/>
        </p:nvSpPr>
        <p:spPr>
          <a:xfrm>
            <a:off x="548640" y="384048"/>
            <a:ext cx="7315200" cy="274320"/>
          </a:xfrm>
          <a:prstGeom prst="rect">
            <a:avLst/>
          </a:prstGeom>
          <a:noFill/>
        </p:spPr>
        <p:txBody>
          <a:bodyPr wrap="square" lIns="0" rIns="0" tIns="0" bIns="0" anchor="t">
            <a:spAutoFit/>
          </a:bodyPr>
          <a:lstStyle/>
          <a:p>
            <a:pPr algn="l"/>
            <a:r>
              <a:rPr sz="1100" b="1" i="0" spc="120">
                <a:solidFill>
                  <a:srgbClr val="2F7D5B"/>
                </a:solidFill>
                <a:latin typeface="Calibri"/>
              </a:rPr>
              <a:t>05 · METHOD OVERVIEW</a:t>
            </a:r>
          </a:p>
        </p:txBody>
      </p:sp>
      <p:sp>
        <p:nvSpPr>
          <p:cNvPr id="4" name="TextBox 3"/>
          <p:cNvSpPr txBox="1"/>
          <p:nvPr/>
        </p:nvSpPr>
        <p:spPr>
          <a:xfrm>
            <a:off x="548640" y="658368"/>
            <a:ext cx="11094415" cy="566928"/>
          </a:xfrm>
          <a:prstGeom prst="rect">
            <a:avLst/>
          </a:prstGeom>
          <a:noFill/>
        </p:spPr>
        <p:txBody>
          <a:bodyPr wrap="square" lIns="0" rIns="0" tIns="0" bIns="0" anchor="t">
            <a:spAutoFit/>
          </a:bodyPr>
          <a:lstStyle/>
          <a:p>
            <a:pPr algn="l"/>
            <a:r>
              <a:rPr sz="3000" b="1" i="0">
                <a:solidFill>
                  <a:srgbClr val="1F2A2E"/>
                </a:solidFill>
                <a:latin typeface="Calibri"/>
              </a:rPr>
              <a:t>From satellite tile to connected road network</a:t>
            </a:r>
          </a:p>
        </p:txBody>
      </p:sp>
      <p:sp>
        <p:nvSpPr>
          <p:cNvPr id="5" name="TextBox 4"/>
          <p:cNvSpPr txBox="1"/>
          <p:nvPr/>
        </p:nvSpPr>
        <p:spPr>
          <a:xfrm>
            <a:off x="548640" y="1581911"/>
            <a:ext cx="2743200" cy="256032"/>
          </a:xfrm>
          <a:prstGeom prst="rect">
            <a:avLst/>
          </a:prstGeom>
          <a:noFill/>
        </p:spPr>
        <p:txBody>
          <a:bodyPr wrap="square" lIns="0" rIns="0" tIns="0" bIns="0" anchor="t">
            <a:spAutoFit/>
          </a:bodyPr>
          <a:lstStyle/>
          <a:p>
            <a:pPr algn="l"/>
            <a:r>
              <a:rPr sz="1100" b="1" i="0">
                <a:solidFill>
                  <a:srgbClr val="2F7D5B"/>
                </a:solidFill>
                <a:latin typeface="Calibri"/>
              </a:rPr>
              <a:t>TRAINING</a:t>
            </a:r>
          </a:p>
        </p:txBody>
      </p:sp>
      <p:sp>
        <p:nvSpPr>
          <p:cNvPr id="6" name="Rounded Rectangle 5"/>
          <p:cNvSpPr/>
          <p:nvPr/>
        </p:nvSpPr>
        <p:spPr>
          <a:xfrm>
            <a:off x="548640" y="1892807"/>
            <a:ext cx="1911644" cy="105156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F2A2E"/>
                </a:solidFill>
                <a:latin typeface="Calibri"/>
              </a:rPr>
              <a:t>DeepGlobe tiles
(5,604)</a:t>
            </a:r>
          </a:p>
        </p:txBody>
      </p:sp>
      <p:cxnSp>
        <p:nvCxnSpPr>
          <p:cNvPr id="7" name="Connector 6"/>
          <p:cNvCxnSpPr/>
          <p:nvPr/>
        </p:nvCxnSpPr>
        <p:spPr>
          <a:xfrm>
            <a:off x="2506004" y="2418587"/>
            <a:ext cx="292608"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44332" y="1892807"/>
            <a:ext cx="1911644" cy="105156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F2A2E"/>
                </a:solidFill>
                <a:latin typeface="Calibri"/>
              </a:rPr>
              <a:t>Augment
256² crops, flips</a:t>
            </a:r>
          </a:p>
        </p:txBody>
      </p:sp>
      <p:cxnSp>
        <p:nvCxnSpPr>
          <p:cNvPr id="9" name="Connector 8"/>
          <p:cNvCxnSpPr/>
          <p:nvPr/>
        </p:nvCxnSpPr>
        <p:spPr>
          <a:xfrm>
            <a:off x="4801697" y="2418587"/>
            <a:ext cx="292608"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140025" y="1892807"/>
            <a:ext cx="1911644" cy="1051560"/>
          </a:xfrm>
          <a:prstGeom prst="roundRect">
            <a:avLst>
              <a:gd name="adj" fmla="val 12000"/>
            </a:avLst>
          </a:prstGeom>
          <a:solidFill>
            <a:srgbClr val="E4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F2A2E"/>
                </a:solidFill>
                <a:latin typeface="Calibri"/>
              </a:rPr>
              <a:t>MobileViT v2
encoder–decoder</a:t>
            </a:r>
          </a:p>
        </p:txBody>
      </p:sp>
      <p:cxnSp>
        <p:nvCxnSpPr>
          <p:cNvPr id="11" name="Connector 10"/>
          <p:cNvCxnSpPr/>
          <p:nvPr/>
        </p:nvCxnSpPr>
        <p:spPr>
          <a:xfrm>
            <a:off x="7097389" y="2418587"/>
            <a:ext cx="292608"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435717" y="1892807"/>
            <a:ext cx="1911644" cy="105156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F2A2E"/>
                </a:solidFill>
                <a:latin typeface="Calibri"/>
              </a:rPr>
              <a:t>Composite loss
BCE + Dice + clDice</a:t>
            </a:r>
          </a:p>
        </p:txBody>
      </p:sp>
      <p:cxnSp>
        <p:nvCxnSpPr>
          <p:cNvPr id="13" name="Connector 12"/>
          <p:cNvCxnSpPr/>
          <p:nvPr/>
        </p:nvCxnSpPr>
        <p:spPr>
          <a:xfrm>
            <a:off x="9393082" y="2418587"/>
            <a:ext cx="292608"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731410" y="1892807"/>
            <a:ext cx="1911644" cy="105156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F2A2E"/>
                </a:solidFill>
                <a:latin typeface="Calibri"/>
              </a:rPr>
              <a:t>Select checkpoint
val IoU + collapse gate</a:t>
            </a:r>
          </a:p>
        </p:txBody>
      </p:sp>
      <p:sp>
        <p:nvSpPr>
          <p:cNvPr id="15" name="TextBox 14"/>
          <p:cNvSpPr txBox="1"/>
          <p:nvPr/>
        </p:nvSpPr>
        <p:spPr>
          <a:xfrm>
            <a:off x="548640" y="3593591"/>
            <a:ext cx="2743200" cy="256032"/>
          </a:xfrm>
          <a:prstGeom prst="rect">
            <a:avLst/>
          </a:prstGeom>
          <a:noFill/>
        </p:spPr>
        <p:txBody>
          <a:bodyPr wrap="square" lIns="0" rIns="0" tIns="0" bIns="0" anchor="t">
            <a:spAutoFit/>
          </a:bodyPr>
          <a:lstStyle/>
          <a:p>
            <a:pPr algn="l"/>
            <a:r>
              <a:rPr sz="1100" b="1" i="0">
                <a:solidFill>
                  <a:srgbClr val="2F7D5B"/>
                </a:solidFill>
                <a:latin typeface="Calibri"/>
              </a:rPr>
              <a:t>INFERENCE</a:t>
            </a:r>
          </a:p>
        </p:txBody>
      </p:sp>
      <p:sp>
        <p:nvSpPr>
          <p:cNvPr id="16" name="Rounded Rectangle 15"/>
          <p:cNvSpPr/>
          <p:nvPr/>
        </p:nvSpPr>
        <p:spPr>
          <a:xfrm>
            <a:off x="548640" y="3904487"/>
            <a:ext cx="1529029" cy="105156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F2A2E"/>
                </a:solidFill>
                <a:latin typeface="Calibri"/>
              </a:rPr>
              <a:t>Satellite tile
(any size ÷32)</a:t>
            </a:r>
          </a:p>
        </p:txBody>
      </p:sp>
      <p:cxnSp>
        <p:nvCxnSpPr>
          <p:cNvPr id="17" name="Connector 16"/>
          <p:cNvCxnSpPr/>
          <p:nvPr/>
        </p:nvCxnSpPr>
        <p:spPr>
          <a:xfrm>
            <a:off x="2123389" y="4430268"/>
            <a:ext cx="292608"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461717" y="3904487"/>
            <a:ext cx="1529029" cy="105156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F2A2E"/>
                </a:solidFill>
                <a:latin typeface="Calibri"/>
              </a:rPr>
              <a:t>4-flip test-time
augmentation</a:t>
            </a:r>
          </a:p>
        </p:txBody>
      </p:sp>
      <p:cxnSp>
        <p:nvCxnSpPr>
          <p:cNvPr id="19" name="Connector 18"/>
          <p:cNvCxnSpPr/>
          <p:nvPr/>
        </p:nvCxnSpPr>
        <p:spPr>
          <a:xfrm>
            <a:off x="4036466" y="4430268"/>
            <a:ext cx="292608"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374794" y="3904487"/>
            <a:ext cx="1529029" cy="105156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F2A2E"/>
                </a:solidFill>
                <a:latin typeface="Calibri"/>
              </a:rPr>
              <a:t>Road probability
map</a:t>
            </a:r>
          </a:p>
        </p:txBody>
      </p:sp>
      <p:cxnSp>
        <p:nvCxnSpPr>
          <p:cNvPr id="21" name="Connector 20"/>
          <p:cNvCxnSpPr/>
          <p:nvPr/>
        </p:nvCxnSpPr>
        <p:spPr>
          <a:xfrm>
            <a:off x="5949543" y="4430268"/>
            <a:ext cx="292608"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87871" y="3904487"/>
            <a:ext cx="1529029" cy="105156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F2A2E"/>
                </a:solidFill>
                <a:latin typeface="Calibri"/>
              </a:rPr>
              <a:t>Hysteresis
+ closing</a:t>
            </a:r>
          </a:p>
        </p:txBody>
      </p:sp>
      <p:cxnSp>
        <p:nvCxnSpPr>
          <p:cNvPr id="23" name="Connector 22"/>
          <p:cNvCxnSpPr/>
          <p:nvPr/>
        </p:nvCxnSpPr>
        <p:spPr>
          <a:xfrm>
            <a:off x="7862620" y="4430268"/>
            <a:ext cx="292608"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200948" y="3904487"/>
            <a:ext cx="1529029" cy="1051560"/>
          </a:xfrm>
          <a:prstGeom prst="roundRect">
            <a:avLst>
              <a:gd name="adj" fmla="val 12000"/>
            </a:avLst>
          </a:prstGeom>
          <a:solidFill>
            <a:srgbClr val="E4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F2A2E"/>
                </a:solidFill>
                <a:latin typeface="Calibri"/>
              </a:rPr>
              <a:t>Canopy-gap
bridging</a:t>
            </a:r>
          </a:p>
        </p:txBody>
      </p:sp>
      <p:cxnSp>
        <p:nvCxnSpPr>
          <p:cNvPr id="25" name="Connector 24"/>
          <p:cNvCxnSpPr/>
          <p:nvPr/>
        </p:nvCxnSpPr>
        <p:spPr>
          <a:xfrm>
            <a:off x="9775698" y="4430268"/>
            <a:ext cx="292608"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0114026" y="3904487"/>
            <a:ext cx="1529029" cy="105156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F2A2E"/>
                </a:solidFill>
                <a:latin typeface="Calibri"/>
              </a:rPr>
              <a:t>Connected
road mask</a:t>
            </a:r>
          </a:p>
        </p:txBody>
      </p:sp>
      <p:sp>
        <p:nvSpPr>
          <p:cNvPr id="27" name="Rounded Rectangle 26"/>
          <p:cNvSpPr/>
          <p:nvPr/>
        </p:nvSpPr>
        <p:spPr>
          <a:xfrm>
            <a:off x="548640" y="5458968"/>
            <a:ext cx="11094415" cy="658368"/>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a:solidFill>
                  <a:srgbClr val="2F7D5B"/>
                </a:solidFill>
                <a:latin typeface="Calibri"/>
              </a:rPr>
              <a:t>Deployment  </a:t>
            </a:r>
            <a:r>
              <a:rPr sz="1400" b="0">
                <a:solidFill>
                  <a:srgbClr val="1F2A2E"/>
                </a:solidFill>
                <a:latin typeface="Calibri"/>
              </a:rPr>
              <a:t>the trained network is exported to ONNX and runs with ONNX Runtime + OpenCV only — no PyTorch or GPU needed on the field device.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73952"/>
            <a:ext cx="914400" cy="228600"/>
          </a:xfrm>
          <a:prstGeom prst="rect">
            <a:avLst/>
          </a:prstGeom>
          <a:noFill/>
        </p:spPr>
        <p:txBody>
          <a:bodyPr wrap="square" lIns="0" rIns="0" tIns="0" bIns="0" anchor="t">
            <a:spAutoFit/>
          </a:bodyPr>
          <a:lstStyle/>
          <a:p>
            <a:pPr algn="r"/>
            <a:r>
              <a:rPr sz="1000" b="0" i="0">
                <a:solidFill>
                  <a:srgbClr val="86919A"/>
                </a:solidFill>
                <a:latin typeface="Calibri"/>
              </a:rPr>
              <a:t>7</a:t>
            </a:r>
          </a:p>
        </p:txBody>
      </p:sp>
      <p:sp>
        <p:nvSpPr>
          <p:cNvPr id="3" name="TextBox 2"/>
          <p:cNvSpPr txBox="1"/>
          <p:nvPr/>
        </p:nvSpPr>
        <p:spPr>
          <a:xfrm>
            <a:off x="548640" y="384048"/>
            <a:ext cx="7315200" cy="274320"/>
          </a:xfrm>
          <a:prstGeom prst="rect">
            <a:avLst/>
          </a:prstGeom>
          <a:noFill/>
        </p:spPr>
        <p:txBody>
          <a:bodyPr wrap="square" lIns="0" rIns="0" tIns="0" bIns="0" anchor="t">
            <a:spAutoFit/>
          </a:bodyPr>
          <a:lstStyle/>
          <a:p>
            <a:pPr algn="l"/>
            <a:r>
              <a:rPr sz="1100" b="1" i="0" spc="120">
                <a:solidFill>
                  <a:srgbClr val="2F7D5B"/>
                </a:solidFill>
                <a:latin typeface="Calibri"/>
              </a:rPr>
              <a:t>06 · MODEL</a:t>
            </a:r>
          </a:p>
        </p:txBody>
      </p:sp>
      <p:sp>
        <p:nvSpPr>
          <p:cNvPr id="4" name="TextBox 3"/>
          <p:cNvSpPr txBox="1"/>
          <p:nvPr/>
        </p:nvSpPr>
        <p:spPr>
          <a:xfrm>
            <a:off x="548640" y="658368"/>
            <a:ext cx="11094415" cy="566928"/>
          </a:xfrm>
          <a:prstGeom prst="rect">
            <a:avLst/>
          </a:prstGeom>
          <a:noFill/>
        </p:spPr>
        <p:txBody>
          <a:bodyPr wrap="square" lIns="0" rIns="0" tIns="0" bIns="0" anchor="t">
            <a:spAutoFit/>
          </a:bodyPr>
          <a:lstStyle/>
          <a:p>
            <a:pPr algn="l"/>
            <a:r>
              <a:rPr sz="3000" b="1" i="0">
                <a:solidFill>
                  <a:srgbClr val="1F2A2E"/>
                </a:solidFill>
                <a:latin typeface="Calibri"/>
              </a:rPr>
              <a:t>MobileViT v2 encoder–decoder — 1.60 M parameters</a:t>
            </a:r>
          </a:p>
        </p:txBody>
      </p:sp>
      <p:sp>
        <p:nvSpPr>
          <p:cNvPr id="5" name="Rounded Rectangle 4"/>
          <p:cNvSpPr/>
          <p:nvPr/>
        </p:nvSpPr>
        <p:spPr>
          <a:xfrm>
            <a:off x="548640" y="1892807"/>
            <a:ext cx="990599" cy="96012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50" b="1">
                <a:solidFill>
                  <a:srgbClr val="1F2A2E"/>
                </a:solidFill>
                <a:latin typeface="Calibri"/>
              </a:rPr>
              <a:t>Input</a:t>
            </a:r>
          </a:p>
          <a:p>
            <a:pPr algn="ctr"/>
            <a:r>
              <a:rPr sz="1050" b="0">
                <a:solidFill>
                  <a:srgbClr val="4E5B62"/>
                </a:solidFill>
                <a:latin typeface="Calibri"/>
              </a:rPr>
              <a:t>3 · H</a:t>
            </a:r>
          </a:p>
        </p:txBody>
      </p:sp>
      <p:cxnSp>
        <p:nvCxnSpPr>
          <p:cNvPr id="6" name="Connector 5"/>
          <p:cNvCxnSpPr/>
          <p:nvPr/>
        </p:nvCxnSpPr>
        <p:spPr>
          <a:xfrm>
            <a:off x="1557527" y="2368296"/>
            <a:ext cx="164593"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740408" y="1892807"/>
            <a:ext cx="990599" cy="96012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50" b="1">
                <a:solidFill>
                  <a:srgbClr val="1F2A2E"/>
                </a:solidFill>
                <a:latin typeface="Calibri"/>
              </a:rPr>
              <a:t>Strip-conv stem</a:t>
            </a:r>
          </a:p>
          <a:p>
            <a:pPr algn="ctr"/>
            <a:r>
              <a:rPr sz="1050" b="0">
                <a:solidFill>
                  <a:srgbClr val="4E5B62"/>
                </a:solidFill>
                <a:latin typeface="Calibri"/>
              </a:rPr>
              <a:t>32 · H/2</a:t>
            </a:r>
          </a:p>
        </p:txBody>
      </p:sp>
      <p:cxnSp>
        <p:nvCxnSpPr>
          <p:cNvPr id="8" name="Connector 7"/>
          <p:cNvCxnSpPr/>
          <p:nvPr/>
        </p:nvCxnSpPr>
        <p:spPr>
          <a:xfrm>
            <a:off x="2749295" y="2368296"/>
            <a:ext cx="164593"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932176" y="1892807"/>
            <a:ext cx="990599" cy="96012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50" b="1">
                <a:solidFill>
                  <a:srgbClr val="1F2A2E"/>
                </a:solidFill>
                <a:latin typeface="Calibri"/>
              </a:rPr>
              <a:t>MV2 ↓</a:t>
            </a:r>
          </a:p>
          <a:p>
            <a:pPr algn="ctr"/>
            <a:r>
              <a:rPr sz="1050" b="0">
                <a:solidFill>
                  <a:srgbClr val="4E5B62"/>
                </a:solidFill>
                <a:latin typeface="Calibri"/>
              </a:rPr>
              <a:t>64 · H/4</a:t>
            </a:r>
          </a:p>
        </p:txBody>
      </p:sp>
      <p:cxnSp>
        <p:nvCxnSpPr>
          <p:cNvPr id="10" name="Connector 9"/>
          <p:cNvCxnSpPr/>
          <p:nvPr/>
        </p:nvCxnSpPr>
        <p:spPr>
          <a:xfrm>
            <a:off x="3941063" y="2368296"/>
            <a:ext cx="164593"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23944" y="1892807"/>
            <a:ext cx="990599" cy="960120"/>
          </a:xfrm>
          <a:prstGeom prst="roundRect">
            <a:avLst>
              <a:gd name="adj" fmla="val 12000"/>
            </a:avLst>
          </a:prstGeom>
          <a:solidFill>
            <a:srgbClr val="E4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50" b="1">
                <a:solidFill>
                  <a:srgbClr val="1F2A2E"/>
                </a:solidFill>
                <a:latin typeface="Calibri"/>
              </a:rPr>
              <a:t>MobileViT v2</a:t>
            </a:r>
          </a:p>
          <a:p>
            <a:pPr algn="ctr"/>
            <a:r>
              <a:rPr sz="1050" b="0">
                <a:solidFill>
                  <a:srgbClr val="4E5B62"/>
                </a:solidFill>
                <a:latin typeface="Calibri"/>
              </a:rPr>
              <a:t>64 · H/4</a:t>
            </a:r>
          </a:p>
        </p:txBody>
      </p:sp>
      <p:cxnSp>
        <p:nvCxnSpPr>
          <p:cNvPr id="12" name="Connector 11"/>
          <p:cNvCxnSpPr/>
          <p:nvPr/>
        </p:nvCxnSpPr>
        <p:spPr>
          <a:xfrm>
            <a:off x="5132831" y="2368296"/>
            <a:ext cx="164593"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315711" y="1892807"/>
            <a:ext cx="990599" cy="960120"/>
          </a:xfrm>
          <a:prstGeom prst="roundRect">
            <a:avLst>
              <a:gd name="adj" fmla="val 12000"/>
            </a:avLst>
          </a:prstGeom>
          <a:solidFill>
            <a:srgbClr val="E4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50" b="1">
                <a:solidFill>
                  <a:srgbClr val="1F2A2E"/>
                </a:solidFill>
                <a:latin typeface="Calibri"/>
              </a:rPr>
              <a:t>MV2 ↓ +
MobileViT v2</a:t>
            </a:r>
          </a:p>
          <a:p>
            <a:pPr algn="ctr"/>
            <a:r>
              <a:rPr sz="1050" b="0">
                <a:solidFill>
                  <a:srgbClr val="4E5B62"/>
                </a:solidFill>
                <a:latin typeface="Calibri"/>
              </a:rPr>
              <a:t>96 · H/8</a:t>
            </a:r>
          </a:p>
        </p:txBody>
      </p:sp>
      <p:cxnSp>
        <p:nvCxnSpPr>
          <p:cNvPr id="14" name="Connector 13"/>
          <p:cNvCxnSpPr/>
          <p:nvPr/>
        </p:nvCxnSpPr>
        <p:spPr>
          <a:xfrm>
            <a:off x="6324599" y="2368296"/>
            <a:ext cx="164592"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507479" y="1892807"/>
            <a:ext cx="990599" cy="960120"/>
          </a:xfrm>
          <a:prstGeom prst="roundRect">
            <a:avLst>
              <a:gd name="adj" fmla="val 12000"/>
            </a:avLst>
          </a:prstGeom>
          <a:solidFill>
            <a:srgbClr val="E4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50" b="1">
                <a:solidFill>
                  <a:srgbClr val="1F2A2E"/>
                </a:solidFill>
                <a:latin typeface="Calibri"/>
              </a:rPr>
              <a:t>MV2 ↓ +
MobileViT v2 ×3</a:t>
            </a:r>
          </a:p>
          <a:p>
            <a:pPr algn="ctr"/>
            <a:r>
              <a:rPr sz="1050" b="0">
                <a:solidFill>
                  <a:srgbClr val="4E5B62"/>
                </a:solidFill>
                <a:latin typeface="Calibri"/>
              </a:rPr>
              <a:t>128 · H/16</a:t>
            </a:r>
          </a:p>
        </p:txBody>
      </p:sp>
      <p:sp>
        <p:nvSpPr>
          <p:cNvPr id="16" name="TextBox 15"/>
          <p:cNvSpPr txBox="1"/>
          <p:nvPr/>
        </p:nvSpPr>
        <p:spPr>
          <a:xfrm>
            <a:off x="548640" y="1600199"/>
            <a:ext cx="2743200" cy="237744"/>
          </a:xfrm>
          <a:prstGeom prst="rect">
            <a:avLst/>
          </a:prstGeom>
          <a:noFill/>
        </p:spPr>
        <p:txBody>
          <a:bodyPr wrap="square" lIns="0" rIns="0" tIns="0" bIns="0" anchor="t">
            <a:spAutoFit/>
          </a:bodyPr>
          <a:lstStyle/>
          <a:p>
            <a:pPr algn="l"/>
            <a:r>
              <a:rPr sz="1000" b="1" i="0">
                <a:solidFill>
                  <a:srgbClr val="2F7D5B"/>
                </a:solidFill>
                <a:latin typeface="Calibri"/>
              </a:rPr>
              <a:t>ENCODER</a:t>
            </a:r>
          </a:p>
        </p:txBody>
      </p:sp>
      <p:sp>
        <p:nvSpPr>
          <p:cNvPr id="17" name="TextBox 16"/>
          <p:cNvSpPr txBox="1"/>
          <p:nvPr/>
        </p:nvSpPr>
        <p:spPr>
          <a:xfrm>
            <a:off x="548640" y="3794759"/>
            <a:ext cx="2743200" cy="237744"/>
          </a:xfrm>
          <a:prstGeom prst="rect">
            <a:avLst/>
          </a:prstGeom>
          <a:noFill/>
        </p:spPr>
        <p:txBody>
          <a:bodyPr wrap="square" lIns="0" rIns="0" tIns="0" bIns="0" anchor="t">
            <a:spAutoFit/>
          </a:bodyPr>
          <a:lstStyle/>
          <a:p>
            <a:pPr algn="l"/>
            <a:r>
              <a:rPr sz="1000" b="1" i="0">
                <a:solidFill>
                  <a:srgbClr val="2F7D5B"/>
                </a:solidFill>
                <a:latin typeface="Calibri"/>
              </a:rPr>
              <a:t>DECODER</a:t>
            </a:r>
          </a:p>
        </p:txBody>
      </p:sp>
      <p:sp>
        <p:nvSpPr>
          <p:cNvPr id="18" name="Rounded Rectangle 17"/>
          <p:cNvSpPr/>
          <p:nvPr/>
        </p:nvSpPr>
        <p:spPr>
          <a:xfrm>
            <a:off x="1740408" y="4087368"/>
            <a:ext cx="990599" cy="96012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50" b="1">
                <a:solidFill>
                  <a:srgbClr val="1F2A2E"/>
                </a:solidFill>
                <a:latin typeface="Calibri"/>
              </a:rPr>
              <a:t>1×1 head</a:t>
            </a:r>
          </a:p>
          <a:p>
            <a:pPr algn="ctr"/>
            <a:r>
              <a:rPr sz="1050" b="0">
                <a:solidFill>
                  <a:srgbClr val="4E5B62"/>
                </a:solidFill>
                <a:latin typeface="Calibri"/>
              </a:rPr>
              <a:t>1 · H</a:t>
            </a:r>
          </a:p>
        </p:txBody>
      </p:sp>
      <p:sp>
        <p:nvSpPr>
          <p:cNvPr id="19" name="Rounded Rectangle 18"/>
          <p:cNvSpPr/>
          <p:nvPr/>
        </p:nvSpPr>
        <p:spPr>
          <a:xfrm>
            <a:off x="2932176" y="4087368"/>
            <a:ext cx="990599" cy="96012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50" b="1">
                <a:solidFill>
                  <a:srgbClr val="1F2A2E"/>
                </a:solidFill>
                <a:latin typeface="Calibri"/>
              </a:rPr>
              <a:t>Decoder</a:t>
            </a:r>
          </a:p>
          <a:p>
            <a:pPr algn="ctr"/>
            <a:r>
              <a:rPr sz="1050" b="0">
                <a:solidFill>
                  <a:srgbClr val="4E5B62"/>
                </a:solidFill>
                <a:latin typeface="Calibri"/>
              </a:rPr>
              <a:t>32 · H/2</a:t>
            </a:r>
          </a:p>
        </p:txBody>
      </p:sp>
      <p:sp>
        <p:nvSpPr>
          <p:cNvPr id="20" name="Rounded Rectangle 19"/>
          <p:cNvSpPr/>
          <p:nvPr/>
        </p:nvSpPr>
        <p:spPr>
          <a:xfrm>
            <a:off x="4123944" y="4087368"/>
            <a:ext cx="990599" cy="96012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50" b="1">
                <a:solidFill>
                  <a:srgbClr val="1F2A2E"/>
                </a:solidFill>
                <a:latin typeface="Calibri"/>
              </a:rPr>
              <a:t>Decoder</a:t>
            </a:r>
          </a:p>
          <a:p>
            <a:pPr algn="ctr"/>
            <a:r>
              <a:rPr sz="1050" b="0">
                <a:solidFill>
                  <a:srgbClr val="4E5B62"/>
                </a:solidFill>
                <a:latin typeface="Calibri"/>
              </a:rPr>
              <a:t>64 · H/4</a:t>
            </a:r>
          </a:p>
        </p:txBody>
      </p:sp>
      <p:sp>
        <p:nvSpPr>
          <p:cNvPr id="21" name="Rounded Rectangle 20"/>
          <p:cNvSpPr/>
          <p:nvPr/>
        </p:nvSpPr>
        <p:spPr>
          <a:xfrm>
            <a:off x="5315711" y="4087368"/>
            <a:ext cx="990599" cy="96012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50" b="1">
                <a:solidFill>
                  <a:srgbClr val="1F2A2E"/>
                </a:solidFill>
                <a:latin typeface="Calibri"/>
              </a:rPr>
              <a:t>Decoder</a:t>
            </a:r>
          </a:p>
          <a:p>
            <a:pPr algn="ctr"/>
            <a:r>
              <a:rPr sz="1050" b="0">
                <a:solidFill>
                  <a:srgbClr val="4E5B62"/>
                </a:solidFill>
                <a:latin typeface="Calibri"/>
              </a:rPr>
              <a:t>96 · H/8</a:t>
            </a:r>
          </a:p>
        </p:txBody>
      </p:sp>
      <p:cxnSp>
        <p:nvCxnSpPr>
          <p:cNvPr id="22" name="Connector 21"/>
          <p:cNvCxnSpPr/>
          <p:nvPr/>
        </p:nvCxnSpPr>
        <p:spPr>
          <a:xfrm flipH="1">
            <a:off x="6324599" y="2871215"/>
            <a:ext cx="678180" cy="1691641"/>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5132831" y="4562856"/>
            <a:ext cx="164593"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3941063" y="4562856"/>
            <a:ext cx="164593"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749295" y="4562856"/>
            <a:ext cx="164593"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235708" y="2871215"/>
            <a:ext cx="1191767" cy="1197865"/>
          </a:xfrm>
          <a:prstGeom prst="line">
            <a:avLst/>
          </a:prstGeom>
          <a:ln w="13970">
            <a:solidFill>
              <a:srgbClr val="2F7D5B"/>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619244" y="2871215"/>
            <a:ext cx="0" cy="1197865"/>
          </a:xfrm>
          <a:prstGeom prst="line">
            <a:avLst/>
          </a:prstGeom>
          <a:ln w="13970">
            <a:solidFill>
              <a:srgbClr val="2F7D5B"/>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811012" y="2871215"/>
            <a:ext cx="0" cy="1197865"/>
          </a:xfrm>
          <a:prstGeom prst="line">
            <a:avLst/>
          </a:prstGeom>
          <a:ln w="13970">
            <a:solidFill>
              <a:srgbClr val="2F7D5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740408" y="5166359"/>
            <a:ext cx="5669280" cy="457200"/>
          </a:xfrm>
          <a:prstGeom prst="rect">
            <a:avLst/>
          </a:prstGeom>
          <a:noFill/>
        </p:spPr>
        <p:txBody>
          <a:bodyPr wrap="square" lIns="0" rIns="0" tIns="0" bIns="0" anchor="t">
            <a:spAutoFit/>
          </a:bodyPr>
          <a:lstStyle/>
          <a:p>
            <a:pPr algn="l"/>
            <a:r>
              <a:rPr sz="1050" b="0" i="0">
                <a:solidFill>
                  <a:srgbClr val="86919A"/>
                </a:solidFill>
                <a:latin typeface="Calibri"/>
              </a:rPr>
              <a:t>Dashed: skip connections, each filtered by an attention gate. Channels · resolution for an H×H input.</a:t>
            </a:r>
          </a:p>
        </p:txBody>
      </p:sp>
      <p:sp>
        <p:nvSpPr>
          <p:cNvPr id="30" name="Rounded Rectangle 29"/>
          <p:cNvSpPr/>
          <p:nvPr/>
        </p:nvSpPr>
        <p:spPr>
          <a:xfrm>
            <a:off x="7909559" y="1664208"/>
            <a:ext cx="3733495" cy="987552"/>
          </a:xfrm>
          <a:prstGeom prst="roundRect">
            <a:avLst>
              <a:gd name="adj" fmla="val 8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092439" y="1773936"/>
            <a:ext cx="3367735" cy="274320"/>
          </a:xfrm>
          <a:prstGeom prst="rect">
            <a:avLst/>
          </a:prstGeom>
          <a:noFill/>
        </p:spPr>
        <p:txBody>
          <a:bodyPr wrap="square" lIns="0" rIns="0" tIns="0" bIns="0" anchor="t">
            <a:spAutoFit/>
          </a:bodyPr>
          <a:lstStyle/>
          <a:p>
            <a:pPr algn="l"/>
            <a:r>
              <a:rPr sz="1400" b="1" i="0">
                <a:solidFill>
                  <a:srgbClr val="1F2A2E"/>
                </a:solidFill>
                <a:latin typeface="Calibri"/>
              </a:rPr>
              <a:t>Strip convolution</a:t>
            </a:r>
          </a:p>
        </p:txBody>
      </p:sp>
      <p:sp>
        <p:nvSpPr>
          <p:cNvPr id="32" name="TextBox 31"/>
          <p:cNvSpPr txBox="1"/>
          <p:nvPr/>
        </p:nvSpPr>
        <p:spPr>
          <a:xfrm>
            <a:off x="8092439" y="2075688"/>
            <a:ext cx="3367735" cy="548640"/>
          </a:xfrm>
          <a:prstGeom prst="rect">
            <a:avLst/>
          </a:prstGeom>
          <a:noFill/>
        </p:spPr>
        <p:txBody>
          <a:bodyPr wrap="square" lIns="0" rIns="0" tIns="0" bIns="0" anchor="t">
            <a:spAutoFit/>
          </a:bodyPr>
          <a:lstStyle/>
          <a:p>
            <a:pPr algn="l"/>
            <a:r>
              <a:rPr sz="1200" b="0" i="0">
                <a:solidFill>
                  <a:srgbClr val="4E5B62"/>
                </a:solidFill>
                <a:latin typeface="Calibri"/>
              </a:rPr>
              <a:t>1×3 then 3×1 filters: directional, ~33% fewer weights than a 3×3.</a:t>
            </a:r>
          </a:p>
        </p:txBody>
      </p:sp>
      <p:sp>
        <p:nvSpPr>
          <p:cNvPr id="33" name="Rounded Rectangle 32"/>
          <p:cNvSpPr/>
          <p:nvPr/>
        </p:nvSpPr>
        <p:spPr>
          <a:xfrm>
            <a:off x="7909559" y="2779776"/>
            <a:ext cx="3733495" cy="987552"/>
          </a:xfrm>
          <a:prstGeom prst="roundRect">
            <a:avLst>
              <a:gd name="adj" fmla="val 8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092439" y="2889504"/>
            <a:ext cx="3367735" cy="274320"/>
          </a:xfrm>
          <a:prstGeom prst="rect">
            <a:avLst/>
          </a:prstGeom>
          <a:noFill/>
        </p:spPr>
        <p:txBody>
          <a:bodyPr wrap="square" lIns="0" rIns="0" tIns="0" bIns="0" anchor="t">
            <a:spAutoFit/>
          </a:bodyPr>
          <a:lstStyle/>
          <a:p>
            <a:pPr algn="l"/>
            <a:r>
              <a:rPr sz="1400" b="1" i="0">
                <a:solidFill>
                  <a:srgbClr val="1F2A2E"/>
                </a:solidFill>
                <a:latin typeface="Calibri"/>
              </a:rPr>
              <a:t>Channel shift</a:t>
            </a:r>
          </a:p>
        </p:txBody>
      </p:sp>
      <p:sp>
        <p:nvSpPr>
          <p:cNvPr id="35" name="TextBox 34"/>
          <p:cNvSpPr txBox="1"/>
          <p:nvPr/>
        </p:nvSpPr>
        <p:spPr>
          <a:xfrm>
            <a:off x="8092439" y="3191256"/>
            <a:ext cx="3367735" cy="548640"/>
          </a:xfrm>
          <a:prstGeom prst="rect">
            <a:avLst/>
          </a:prstGeom>
          <a:noFill/>
        </p:spPr>
        <p:txBody>
          <a:bodyPr wrap="square" lIns="0" rIns="0" tIns="0" bIns="0" anchor="t">
            <a:spAutoFit/>
          </a:bodyPr>
          <a:lstStyle/>
          <a:p>
            <a:pPr algn="l"/>
            <a:r>
              <a:rPr sz="1200" b="0" i="0">
                <a:solidFill>
                  <a:srgbClr val="4E5B62"/>
                </a:solidFill>
                <a:latin typeface="Calibri"/>
              </a:rPr>
              <a:t>25% of channels shifted ±2 px in four directions: wider context, zero parameters.</a:t>
            </a:r>
          </a:p>
        </p:txBody>
      </p:sp>
      <p:sp>
        <p:nvSpPr>
          <p:cNvPr id="36" name="Rounded Rectangle 35"/>
          <p:cNvSpPr/>
          <p:nvPr/>
        </p:nvSpPr>
        <p:spPr>
          <a:xfrm>
            <a:off x="7909559" y="3895344"/>
            <a:ext cx="3733495" cy="987552"/>
          </a:xfrm>
          <a:prstGeom prst="roundRect">
            <a:avLst>
              <a:gd name="adj" fmla="val 8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092439" y="4005072"/>
            <a:ext cx="3367735" cy="274320"/>
          </a:xfrm>
          <a:prstGeom prst="rect">
            <a:avLst/>
          </a:prstGeom>
          <a:noFill/>
        </p:spPr>
        <p:txBody>
          <a:bodyPr wrap="square" lIns="0" rIns="0" tIns="0" bIns="0" anchor="t">
            <a:spAutoFit/>
          </a:bodyPr>
          <a:lstStyle/>
          <a:p>
            <a:pPr algn="l"/>
            <a:r>
              <a:rPr sz="1400" b="1" i="0">
                <a:solidFill>
                  <a:srgbClr val="1F2A2E"/>
                </a:solidFill>
                <a:latin typeface="Calibri"/>
              </a:rPr>
              <a:t>Separable self-attention</a:t>
            </a:r>
          </a:p>
        </p:txBody>
      </p:sp>
      <p:sp>
        <p:nvSpPr>
          <p:cNvPr id="38" name="TextBox 37"/>
          <p:cNvSpPr txBox="1"/>
          <p:nvPr/>
        </p:nvSpPr>
        <p:spPr>
          <a:xfrm>
            <a:off x="8092439" y="4306824"/>
            <a:ext cx="3367735" cy="548640"/>
          </a:xfrm>
          <a:prstGeom prst="rect">
            <a:avLst/>
          </a:prstGeom>
          <a:noFill/>
        </p:spPr>
        <p:txBody>
          <a:bodyPr wrap="square" lIns="0" rIns="0" tIns="0" bIns="0" anchor="t">
            <a:spAutoFit/>
          </a:bodyPr>
          <a:lstStyle/>
          <a:p>
            <a:pPr algn="l"/>
            <a:r>
              <a:rPr sz="1200" b="0" i="0">
                <a:solidFill>
                  <a:srgbClr val="4E5B62"/>
                </a:solidFill>
                <a:latin typeface="Calibri"/>
              </a:rPr>
              <a:t>MobileViT v2 attention: global context at linear cost in image size.</a:t>
            </a:r>
          </a:p>
        </p:txBody>
      </p:sp>
      <p:sp>
        <p:nvSpPr>
          <p:cNvPr id="39" name="Rounded Rectangle 38"/>
          <p:cNvSpPr/>
          <p:nvPr/>
        </p:nvSpPr>
        <p:spPr>
          <a:xfrm>
            <a:off x="7909559" y="5010912"/>
            <a:ext cx="3733495" cy="987552"/>
          </a:xfrm>
          <a:prstGeom prst="roundRect">
            <a:avLst>
              <a:gd name="adj" fmla="val 8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092439" y="5120640"/>
            <a:ext cx="3367735" cy="274320"/>
          </a:xfrm>
          <a:prstGeom prst="rect">
            <a:avLst/>
          </a:prstGeom>
          <a:noFill/>
        </p:spPr>
        <p:txBody>
          <a:bodyPr wrap="square" lIns="0" rIns="0" tIns="0" bIns="0" anchor="t">
            <a:spAutoFit/>
          </a:bodyPr>
          <a:lstStyle/>
          <a:p>
            <a:pPr algn="l"/>
            <a:r>
              <a:rPr sz="1400" b="1" i="0">
                <a:solidFill>
                  <a:srgbClr val="1F2A2E"/>
                </a:solidFill>
                <a:latin typeface="Calibri"/>
              </a:rPr>
              <a:t>Attention gates</a:t>
            </a:r>
          </a:p>
        </p:txBody>
      </p:sp>
      <p:sp>
        <p:nvSpPr>
          <p:cNvPr id="41" name="TextBox 40"/>
          <p:cNvSpPr txBox="1"/>
          <p:nvPr/>
        </p:nvSpPr>
        <p:spPr>
          <a:xfrm>
            <a:off x="8092439" y="5422392"/>
            <a:ext cx="3367735" cy="548640"/>
          </a:xfrm>
          <a:prstGeom prst="rect">
            <a:avLst/>
          </a:prstGeom>
          <a:noFill/>
        </p:spPr>
        <p:txBody>
          <a:bodyPr wrap="square" lIns="0" rIns="0" tIns="0" bIns="0" anchor="t">
            <a:spAutoFit/>
          </a:bodyPr>
          <a:lstStyle/>
          <a:p>
            <a:pPr algn="l"/>
            <a:r>
              <a:rPr sz="1200" b="0" i="0">
                <a:solidFill>
                  <a:srgbClr val="4E5B62"/>
                </a:solidFill>
                <a:latin typeface="Calibri"/>
              </a:rPr>
              <a:t>Learned masks on skip connections suppress roof and field-edge clutter.</a:t>
            </a:r>
          </a:p>
        </p:txBody>
      </p:sp>
      <p:sp>
        <p:nvSpPr>
          <p:cNvPr id="42" name="TextBox 41"/>
          <p:cNvSpPr txBox="1"/>
          <p:nvPr/>
        </p:nvSpPr>
        <p:spPr>
          <a:xfrm>
            <a:off x="548640" y="5733288"/>
            <a:ext cx="2194560" cy="411480"/>
          </a:xfrm>
          <a:prstGeom prst="rect">
            <a:avLst/>
          </a:prstGeom>
          <a:noFill/>
        </p:spPr>
        <p:txBody>
          <a:bodyPr wrap="square" lIns="0" rIns="0" tIns="0" bIns="0" anchor="t">
            <a:spAutoFit/>
          </a:bodyPr>
          <a:lstStyle/>
          <a:p>
            <a:pPr algn="l"/>
            <a:r>
              <a:rPr sz="2200" b="1" i="0">
                <a:solidFill>
                  <a:srgbClr val="2F7D5B"/>
                </a:solidFill>
                <a:latin typeface="Calibri"/>
              </a:rPr>
              <a:t>1.60 M</a:t>
            </a:r>
          </a:p>
        </p:txBody>
      </p:sp>
      <p:sp>
        <p:nvSpPr>
          <p:cNvPr id="43" name="TextBox 42"/>
          <p:cNvSpPr txBox="1"/>
          <p:nvPr/>
        </p:nvSpPr>
        <p:spPr>
          <a:xfrm>
            <a:off x="548640" y="6144768"/>
            <a:ext cx="2194560" cy="274320"/>
          </a:xfrm>
          <a:prstGeom prst="rect">
            <a:avLst/>
          </a:prstGeom>
          <a:noFill/>
        </p:spPr>
        <p:txBody>
          <a:bodyPr wrap="square" lIns="0" rIns="0" tIns="0" bIns="0" anchor="t">
            <a:spAutoFit/>
          </a:bodyPr>
          <a:lstStyle/>
          <a:p>
            <a:pPr algn="l"/>
            <a:r>
              <a:rPr sz="1150" b="0" i="0">
                <a:solidFill>
                  <a:srgbClr val="4E5B62"/>
                </a:solidFill>
                <a:latin typeface="Calibri"/>
              </a:rPr>
              <a:t>parameters</a:t>
            </a:r>
          </a:p>
        </p:txBody>
      </p:sp>
      <p:sp>
        <p:nvSpPr>
          <p:cNvPr id="44" name="TextBox 43"/>
          <p:cNvSpPr txBox="1"/>
          <p:nvPr/>
        </p:nvSpPr>
        <p:spPr>
          <a:xfrm>
            <a:off x="2834640" y="5733288"/>
            <a:ext cx="2194560" cy="411480"/>
          </a:xfrm>
          <a:prstGeom prst="rect">
            <a:avLst/>
          </a:prstGeom>
          <a:noFill/>
        </p:spPr>
        <p:txBody>
          <a:bodyPr wrap="square" lIns="0" rIns="0" tIns="0" bIns="0" anchor="t">
            <a:spAutoFit/>
          </a:bodyPr>
          <a:lstStyle/>
          <a:p>
            <a:pPr algn="l"/>
            <a:r>
              <a:rPr sz="2200" b="1" i="0">
                <a:solidFill>
                  <a:srgbClr val="2F7D5B"/>
                </a:solidFill>
                <a:latin typeface="Calibri"/>
              </a:rPr>
              <a:t>61</a:t>
            </a:r>
          </a:p>
        </p:txBody>
      </p:sp>
      <p:sp>
        <p:nvSpPr>
          <p:cNvPr id="45" name="TextBox 44"/>
          <p:cNvSpPr txBox="1"/>
          <p:nvPr/>
        </p:nvSpPr>
        <p:spPr>
          <a:xfrm>
            <a:off x="2834640" y="6144768"/>
            <a:ext cx="2194560" cy="274320"/>
          </a:xfrm>
          <a:prstGeom prst="rect">
            <a:avLst/>
          </a:prstGeom>
          <a:noFill/>
        </p:spPr>
        <p:txBody>
          <a:bodyPr wrap="square" lIns="0" rIns="0" tIns="0" bIns="0" anchor="t">
            <a:spAutoFit/>
          </a:bodyPr>
          <a:lstStyle/>
          <a:p>
            <a:pPr algn="l"/>
            <a:r>
              <a:rPr sz="1150" b="0" i="0">
                <a:solidFill>
                  <a:srgbClr val="4E5B62"/>
                </a:solidFill>
                <a:latin typeface="Calibri"/>
              </a:rPr>
              <a:t>GFLOPs per 1024² tile</a:t>
            </a:r>
          </a:p>
        </p:txBody>
      </p:sp>
      <p:sp>
        <p:nvSpPr>
          <p:cNvPr id="46" name="TextBox 45"/>
          <p:cNvSpPr txBox="1"/>
          <p:nvPr/>
        </p:nvSpPr>
        <p:spPr>
          <a:xfrm>
            <a:off x="5120640" y="5733288"/>
            <a:ext cx="2194560" cy="411480"/>
          </a:xfrm>
          <a:prstGeom prst="rect">
            <a:avLst/>
          </a:prstGeom>
          <a:noFill/>
        </p:spPr>
        <p:txBody>
          <a:bodyPr wrap="square" lIns="0" rIns="0" tIns="0" bIns="0" anchor="t">
            <a:spAutoFit/>
          </a:bodyPr>
          <a:lstStyle/>
          <a:p>
            <a:pPr algn="l"/>
            <a:r>
              <a:rPr sz="2200" b="1" i="0">
                <a:solidFill>
                  <a:srgbClr val="2F7D5B"/>
                </a:solidFill>
                <a:latin typeface="Calibri"/>
              </a:rPr>
              <a:t>6.1 MB</a:t>
            </a:r>
          </a:p>
        </p:txBody>
      </p:sp>
      <p:sp>
        <p:nvSpPr>
          <p:cNvPr id="47" name="TextBox 46"/>
          <p:cNvSpPr txBox="1"/>
          <p:nvPr/>
        </p:nvSpPr>
        <p:spPr>
          <a:xfrm>
            <a:off x="5120640" y="6144768"/>
            <a:ext cx="2194560" cy="274320"/>
          </a:xfrm>
          <a:prstGeom prst="rect">
            <a:avLst/>
          </a:prstGeom>
          <a:noFill/>
        </p:spPr>
        <p:txBody>
          <a:bodyPr wrap="square" lIns="0" rIns="0" tIns="0" bIns="0" anchor="t">
            <a:spAutoFit/>
          </a:bodyPr>
          <a:lstStyle/>
          <a:p>
            <a:pPr algn="l"/>
            <a:r>
              <a:rPr sz="1150" b="0" i="0">
                <a:solidFill>
                  <a:srgbClr val="4E5B62"/>
                </a:solidFill>
                <a:latin typeface="Calibri"/>
              </a:rPr>
              <a:t>weights (fp32)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73952"/>
            <a:ext cx="914400" cy="228600"/>
          </a:xfrm>
          <a:prstGeom prst="rect">
            <a:avLst/>
          </a:prstGeom>
          <a:noFill/>
        </p:spPr>
        <p:txBody>
          <a:bodyPr wrap="square" lIns="0" rIns="0" tIns="0" bIns="0" anchor="t">
            <a:spAutoFit/>
          </a:bodyPr>
          <a:lstStyle/>
          <a:p>
            <a:pPr algn="r"/>
            <a:r>
              <a:rPr sz="1000" b="0" i="0">
                <a:solidFill>
                  <a:srgbClr val="86919A"/>
                </a:solidFill>
                <a:latin typeface="Calibri"/>
              </a:rPr>
              <a:t>8</a:t>
            </a:r>
          </a:p>
        </p:txBody>
      </p:sp>
      <p:sp>
        <p:nvSpPr>
          <p:cNvPr id="3" name="TextBox 2"/>
          <p:cNvSpPr txBox="1"/>
          <p:nvPr/>
        </p:nvSpPr>
        <p:spPr>
          <a:xfrm>
            <a:off x="548640" y="384048"/>
            <a:ext cx="7315200" cy="274320"/>
          </a:xfrm>
          <a:prstGeom prst="rect">
            <a:avLst/>
          </a:prstGeom>
          <a:noFill/>
        </p:spPr>
        <p:txBody>
          <a:bodyPr wrap="square" lIns="0" rIns="0" tIns="0" bIns="0" anchor="t">
            <a:spAutoFit/>
          </a:bodyPr>
          <a:lstStyle/>
          <a:p>
            <a:pPr algn="l"/>
            <a:r>
              <a:rPr sz="1100" b="1" i="0" spc="120">
                <a:solidFill>
                  <a:srgbClr val="2F7D5B"/>
                </a:solidFill>
                <a:latin typeface="Calibri"/>
              </a:rPr>
              <a:t>07 · TRAINING</a:t>
            </a:r>
          </a:p>
        </p:txBody>
      </p:sp>
      <p:sp>
        <p:nvSpPr>
          <p:cNvPr id="4" name="TextBox 3"/>
          <p:cNvSpPr txBox="1"/>
          <p:nvPr/>
        </p:nvSpPr>
        <p:spPr>
          <a:xfrm>
            <a:off x="548640" y="658368"/>
            <a:ext cx="11094415" cy="566928"/>
          </a:xfrm>
          <a:prstGeom prst="rect">
            <a:avLst/>
          </a:prstGeom>
          <a:noFill/>
        </p:spPr>
        <p:txBody>
          <a:bodyPr wrap="square" lIns="0" rIns="0" tIns="0" bIns="0" anchor="t">
            <a:spAutoFit/>
          </a:bodyPr>
          <a:lstStyle/>
          <a:p>
            <a:pPr algn="l"/>
            <a:r>
              <a:rPr sz="3000" b="1" i="0">
                <a:solidFill>
                  <a:srgbClr val="1F2A2E"/>
                </a:solidFill>
                <a:latin typeface="Calibri"/>
              </a:rPr>
              <a:t>Loss that rewards connected roads, trained with guard rails</a:t>
            </a:r>
          </a:p>
        </p:txBody>
      </p:sp>
      <p:sp>
        <p:nvSpPr>
          <p:cNvPr id="5" name="TextBox 4"/>
          <p:cNvSpPr txBox="1"/>
          <p:nvPr/>
        </p:nvSpPr>
        <p:spPr>
          <a:xfrm>
            <a:off x="548640" y="1618488"/>
            <a:ext cx="5577840" cy="365760"/>
          </a:xfrm>
          <a:prstGeom prst="rect">
            <a:avLst/>
          </a:prstGeom>
          <a:noFill/>
        </p:spPr>
        <p:txBody>
          <a:bodyPr wrap="square" lIns="0" rIns="0" tIns="0" bIns="0" anchor="t">
            <a:spAutoFit/>
          </a:bodyPr>
          <a:lstStyle/>
          <a:p>
            <a:pPr algn="l"/>
            <a:r>
              <a:rPr sz="1600" b="1" i="0">
                <a:solidFill>
                  <a:srgbClr val="1F2A2E"/>
                </a:solidFill>
                <a:latin typeface="Calibri"/>
              </a:rPr>
              <a:t>Composite loss</a:t>
            </a:r>
          </a:p>
        </p:txBody>
      </p:sp>
      <p:sp>
        <p:nvSpPr>
          <p:cNvPr id="6" name="Rounded Rectangle 5"/>
          <p:cNvSpPr/>
          <p:nvPr/>
        </p:nvSpPr>
        <p:spPr>
          <a:xfrm>
            <a:off x="548640" y="2029967"/>
            <a:ext cx="5577840" cy="73152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a:solidFill>
                  <a:srgbClr val="1F2A2E"/>
                </a:solidFill>
                <a:latin typeface="Calibri"/>
              </a:rPr>
              <a:t>L = α(e)·BCE</a:t>
            </a:r>
            <a:r>
              <a:rPr sz="1700" b="1">
                <a:solidFill>
                  <a:srgbClr val="1F2A2E"/>
                </a:solidFill>
                <a:latin typeface="Calibri"/>
              </a:rPr>
              <a:t>  +  0.35·Dice  +  (0.65 − α(e))·clDice</a:t>
            </a:r>
          </a:p>
        </p:txBody>
      </p:sp>
      <p:sp>
        <p:nvSpPr>
          <p:cNvPr id="7" name="TextBox 6"/>
          <p:cNvSpPr txBox="1"/>
          <p:nvPr/>
        </p:nvSpPr>
        <p:spPr>
          <a:xfrm>
            <a:off x="548640" y="2990088"/>
            <a:ext cx="5577840" cy="1737360"/>
          </a:xfrm>
          <a:prstGeom prst="rect">
            <a:avLst/>
          </a:prstGeom>
          <a:noFill/>
        </p:spPr>
        <p:txBody>
          <a:bodyPr wrap="square" lIns="0" rIns="0" tIns="0" bIns="0">
            <a:spAutoFit/>
          </a:bodyPr>
          <a:lstStyle/>
          <a:p>
            <a:pPr marL="219456" indent="-219456">
              <a:spcBef>
                <a:spcPts val="700"/>
              </a:spcBef>
              <a:buClr>
                <a:srgbClr val="2F7D5B"/>
              </a:buClr>
              <a:buFont typeface="Arial"/>
              <a:buChar char="•"/>
            </a:pPr>
            <a:r>
              <a:rPr sz="1400" b="0">
                <a:solidFill>
                  <a:srgbClr val="1F2A2E"/>
                </a:solidFill>
                <a:latin typeface="Calibri"/>
              </a:rPr>
              <a:t>BCE (road pixels weighted ×2) and soft Dice teach where roads are.</a:t>
            </a:r>
          </a:p>
          <a:p>
            <a:pPr marL="219456" indent="-219456">
              <a:spcBef>
                <a:spcPts val="700"/>
              </a:spcBef>
              <a:buClr>
                <a:srgbClr val="2F7D5B"/>
              </a:buClr>
              <a:buFont typeface="Arial"/>
              <a:buChar char="•"/>
            </a:pPr>
            <a:r>
              <a:rPr sz="1400" b="0">
                <a:solidFill>
                  <a:srgbClr val="1F2A2E"/>
                </a:solidFill>
                <a:latin typeface="Calibri"/>
              </a:rPr>
              <a:t>clDice compares skeletons, penalising breaks in a road’s centerline.</a:t>
            </a:r>
          </a:p>
          <a:p>
            <a:pPr marL="219456" indent="-219456">
              <a:spcBef>
                <a:spcPts val="700"/>
              </a:spcBef>
              <a:buClr>
                <a:srgbClr val="2F7D5B"/>
              </a:buClr>
              <a:buFont typeface="Arial"/>
              <a:buChar char="•"/>
            </a:pPr>
            <a:r>
              <a:rPr sz="1400" b="0">
                <a:solidFill>
                  <a:srgbClr val="1F2A2E"/>
                </a:solidFill>
                <a:latin typeface="Calibri"/>
              </a:rPr>
              <a:t>α starts at 0.50 and decays to 0.15 by epoch 40, shifting weight to clDice.</a:t>
            </a:r>
          </a:p>
        </p:txBody>
      </p:sp>
      <p:graphicFrame>
        <p:nvGraphicFramePr>
          <p:cNvPr id="8" name="Table 7"/>
          <p:cNvGraphicFramePr>
            <a:graphicFrameLocks noGrp="1"/>
          </p:cNvGraphicFramePr>
          <p:nvPr/>
        </p:nvGraphicFramePr>
        <p:xfrm>
          <a:off x="548640" y="4224528"/>
          <a:ext cx="5577840" cy="1975104"/>
        </p:xfrm>
        <a:graphic>
          <a:graphicData uri="http://schemas.openxmlformats.org/drawingml/2006/table">
            <a:tbl>
              <a:tblPr firstRow="0" bandRow="0">
                <a:tableStyleId>{2D5ABB26-0587-4C30-8999-92F81FD0307C}</a:tableStyleId>
              </a:tblPr>
              <a:tblGrid>
                <a:gridCol w="1920240"/>
                <a:gridCol w="3657600"/>
              </a:tblGrid>
              <a:tr h="329184">
                <a:tc>
                  <a:txBody>
                    <a:bodyPr wrap="square"/>
                    <a:lstStyle/>
                    <a:p>
                      <a:pPr algn="l"/>
                      <a:r>
                        <a:rPr sz="1250" b="1">
                          <a:solidFill>
                            <a:srgbClr val="4E5B62"/>
                          </a:solidFill>
                          <a:latin typeface="Calibri"/>
                        </a:rPr>
                        <a:t>Setting</a:t>
                      </a:r>
                    </a:p>
                  </a:txBody>
                  <a:tcPr marL="73152" marR="73152" marT="27432" marB="27432" anchor="ctr">
                    <a:solidFill>
                      <a:srgbClr val="F1F4F3"/>
                    </a:solidFill>
                    <a:lnL w="0">
                      <a:noFill/>
                    </a:lnL>
                    <a:lnR w="0">
                      <a:noFill/>
                    </a:lnR>
                    <a:lnT w="0">
                      <a:noFill/>
                    </a:lnT>
                    <a:lnB w="9525">
                      <a:solidFill>
                        <a:srgbClr val="D5DCD9"/>
                      </a:solidFill>
                    </a:lnB>
                  </a:tcPr>
                </a:tc>
                <a:tc>
                  <a:txBody>
                    <a:bodyPr wrap="square"/>
                    <a:lstStyle/>
                    <a:p>
                      <a:pPr algn="l"/>
                      <a:r>
                        <a:rPr sz="1250" b="1">
                          <a:solidFill>
                            <a:srgbClr val="4E5B62"/>
                          </a:solidFill>
                          <a:latin typeface="Calibri"/>
                        </a:rPr>
                        <a:t>Value</a:t>
                      </a:r>
                    </a:p>
                  </a:txBody>
                  <a:tcPr marL="73152" marR="73152" marT="27432" marB="27432" anchor="ctr">
                    <a:solidFill>
                      <a:srgbClr val="F1F4F3"/>
                    </a:solidFill>
                    <a:lnL w="0">
                      <a:noFill/>
                    </a:lnL>
                    <a:lnR w="0">
                      <a:noFill/>
                    </a:lnR>
                    <a:lnT w="0">
                      <a:noFill/>
                    </a:lnT>
                    <a:lnB w="9525">
                      <a:solidFill>
                        <a:srgbClr val="D5DCD9"/>
                      </a:solidFill>
                    </a:lnB>
                  </a:tcPr>
                </a:tc>
              </a:tr>
              <a:tr h="329184">
                <a:tc>
                  <a:txBody>
                    <a:bodyPr wrap="square"/>
                    <a:lstStyle/>
                    <a:p>
                      <a:pPr algn="l"/>
                      <a:r>
                        <a:rPr sz="1250" b="1">
                          <a:solidFill>
                            <a:srgbClr val="1F2A2E"/>
                          </a:solidFill>
                          <a:latin typeface="Calibri"/>
                        </a:rPr>
                        <a:t>Optimiser</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l"/>
                      <a:r>
                        <a:rPr sz="1250" b="0">
                          <a:solidFill>
                            <a:srgbClr val="1F2A2E"/>
                          </a:solidFill>
                          <a:latin typeface="Calibri"/>
                        </a:rPr>
                        <a:t>AdamW, lr 1e-3, cosine decay</a:t>
                      </a:r>
                    </a:p>
                  </a:txBody>
                  <a:tcPr marL="73152" marR="73152" marT="27432" marB="27432" anchor="ctr">
                    <a:solidFill>
                      <a:srgbClr val="FFFFFF"/>
                    </a:solidFill>
                    <a:lnL w="0">
                      <a:noFill/>
                    </a:lnL>
                    <a:lnR w="0">
                      <a:noFill/>
                    </a:lnR>
                    <a:lnT w="0">
                      <a:noFill/>
                    </a:lnT>
                    <a:lnB w="9525">
                      <a:solidFill>
                        <a:srgbClr val="D5DCD9"/>
                      </a:solidFill>
                    </a:lnB>
                  </a:tcPr>
                </a:tc>
              </a:tr>
              <a:tr h="329184">
                <a:tc>
                  <a:txBody>
                    <a:bodyPr wrap="square"/>
                    <a:lstStyle/>
                    <a:p>
                      <a:pPr algn="l"/>
                      <a:r>
                        <a:rPr sz="1250" b="1">
                          <a:solidFill>
                            <a:srgbClr val="1F2A2E"/>
                          </a:solidFill>
                          <a:latin typeface="Calibri"/>
                        </a:rPr>
                        <a:t>Batch</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l"/>
                      <a:r>
                        <a:rPr sz="1250" b="0">
                          <a:solidFill>
                            <a:srgbClr val="1F2A2E"/>
                          </a:solidFill>
                          <a:latin typeface="Calibri"/>
                        </a:rPr>
                        <a:t>16 × 256² crops, mixed precision</a:t>
                      </a:r>
                    </a:p>
                  </a:txBody>
                  <a:tcPr marL="73152" marR="73152" marT="27432" marB="27432" anchor="ctr">
                    <a:solidFill>
                      <a:srgbClr val="FFFFFF"/>
                    </a:solidFill>
                    <a:lnL w="0">
                      <a:noFill/>
                    </a:lnL>
                    <a:lnR w="0">
                      <a:noFill/>
                    </a:lnR>
                    <a:lnT w="0">
                      <a:noFill/>
                    </a:lnT>
                    <a:lnB w="9525">
                      <a:solidFill>
                        <a:srgbClr val="D5DCD9"/>
                      </a:solidFill>
                    </a:lnB>
                  </a:tcPr>
                </a:tc>
              </a:tr>
              <a:tr h="329184">
                <a:tc>
                  <a:txBody>
                    <a:bodyPr wrap="square"/>
                    <a:lstStyle/>
                    <a:p>
                      <a:pPr algn="l"/>
                      <a:r>
                        <a:rPr sz="1250" b="1">
                          <a:solidFill>
                            <a:srgbClr val="1F2A2E"/>
                          </a:solidFill>
                          <a:latin typeface="Calibri"/>
                        </a:rPr>
                        <a:t>Initialisation</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l"/>
                      <a:r>
                        <a:rPr sz="1250" b="0">
                          <a:solidFill>
                            <a:srgbClr val="1F2A2E"/>
                          </a:solidFill>
                          <a:latin typeface="Calibri"/>
                        </a:rPr>
                        <a:t>Warm start from June baseline</a:t>
                      </a:r>
                    </a:p>
                  </a:txBody>
                  <a:tcPr marL="73152" marR="73152" marT="27432" marB="27432" anchor="ctr">
                    <a:solidFill>
                      <a:srgbClr val="FFFFFF"/>
                    </a:solidFill>
                    <a:lnL w="0">
                      <a:noFill/>
                    </a:lnL>
                    <a:lnR w="0">
                      <a:noFill/>
                    </a:lnR>
                    <a:lnT w="0">
                      <a:noFill/>
                    </a:lnT>
                    <a:lnB w="9525">
                      <a:solidFill>
                        <a:srgbClr val="D5DCD9"/>
                      </a:solidFill>
                    </a:lnB>
                  </a:tcPr>
                </a:tc>
              </a:tr>
              <a:tr h="329184">
                <a:tc>
                  <a:txBody>
                    <a:bodyPr wrap="square"/>
                    <a:lstStyle/>
                    <a:p>
                      <a:pPr algn="l"/>
                      <a:r>
                        <a:rPr sz="1250" b="1">
                          <a:solidFill>
                            <a:srgbClr val="1F2A2E"/>
                          </a:solidFill>
                          <a:latin typeface="Calibri"/>
                        </a:rPr>
                        <a:t>Early stopping</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l"/>
                      <a:r>
                        <a:rPr sz="1250" b="0">
                          <a:solidFill>
                            <a:srgbClr val="1F2A2E"/>
                          </a:solidFill>
                          <a:latin typeface="Calibri"/>
                        </a:rPr>
                        <a:t>Patience 35 on validation IoU</a:t>
                      </a:r>
                    </a:p>
                  </a:txBody>
                  <a:tcPr marL="73152" marR="73152" marT="27432" marB="27432" anchor="ctr">
                    <a:solidFill>
                      <a:srgbClr val="FFFFFF"/>
                    </a:solidFill>
                    <a:lnL w="0">
                      <a:noFill/>
                    </a:lnL>
                    <a:lnR w="0">
                      <a:noFill/>
                    </a:lnR>
                    <a:lnT w="0">
                      <a:noFill/>
                    </a:lnT>
                    <a:lnB w="9525">
                      <a:solidFill>
                        <a:srgbClr val="D5DCD9"/>
                      </a:solidFill>
                    </a:lnB>
                  </a:tcPr>
                </a:tc>
              </a:tr>
              <a:tr h="329184">
                <a:tc>
                  <a:txBody>
                    <a:bodyPr wrap="square"/>
                    <a:lstStyle/>
                    <a:p>
                      <a:pPr algn="l"/>
                      <a:r>
                        <a:rPr sz="1250" b="1">
                          <a:solidFill>
                            <a:srgbClr val="1F2A2E"/>
                          </a:solidFill>
                          <a:latin typeface="Calibri"/>
                        </a:rPr>
                        <a:t>Best checkpoint</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l"/>
                      <a:r>
                        <a:rPr sz="1250" b="0">
                          <a:solidFill>
                            <a:srgbClr val="1F2A2E"/>
                          </a:solidFill>
                          <a:latin typeface="Calibri"/>
                        </a:rPr>
                        <a:t>Epoch 53 (0-indexed)</a:t>
                      </a:r>
                    </a:p>
                  </a:txBody>
                  <a:tcPr marL="73152" marR="73152" marT="27432" marB="27432" anchor="ctr">
                    <a:solidFill>
                      <a:srgbClr val="FFFFFF"/>
                    </a:solidFill>
                    <a:lnL w="0">
                      <a:noFill/>
                    </a:lnL>
                    <a:lnR w="0">
                      <a:noFill/>
                    </a:lnR>
                    <a:lnT w="0">
                      <a:noFill/>
                    </a:lnT>
                    <a:lnB w="9525">
                      <a:solidFill>
                        <a:srgbClr val="D5DCD9"/>
                      </a:solidFill>
                    </a:lnB>
                  </a:tcPr>
                </a:tc>
              </a:tr>
            </a:tbl>
          </a:graphicData>
        </a:graphic>
      </p:graphicFrame>
      <p:sp>
        <p:nvSpPr>
          <p:cNvPr id="9" name="TextBox 8"/>
          <p:cNvSpPr txBox="1"/>
          <p:nvPr/>
        </p:nvSpPr>
        <p:spPr>
          <a:xfrm>
            <a:off x="6492240" y="1618488"/>
            <a:ext cx="5150815" cy="320040"/>
          </a:xfrm>
          <a:prstGeom prst="rect">
            <a:avLst/>
          </a:prstGeom>
          <a:noFill/>
        </p:spPr>
        <p:txBody>
          <a:bodyPr wrap="square" lIns="0" rIns="0" tIns="0" bIns="0" anchor="t">
            <a:spAutoFit/>
          </a:bodyPr>
          <a:lstStyle/>
          <a:p>
            <a:pPr algn="l"/>
            <a:r>
              <a:rPr sz="1600" b="1" i="0">
                <a:solidFill>
                  <a:srgbClr val="1F2A2E"/>
                </a:solidFill>
                <a:latin typeface="Calibri"/>
              </a:rPr>
              <a:t>Loss weights over training</a:t>
            </a:r>
          </a:p>
        </p:txBody>
      </p:sp>
      <p:graphicFrame>
        <p:nvGraphicFramePr>
          <p:cNvPr id="10" name="Chart 9"/>
          <p:cNvGraphicFramePr>
            <a:graphicFrameLocks noGrp="1"/>
          </p:cNvGraphicFramePr>
          <p:nvPr/>
        </p:nvGraphicFramePr>
        <p:xfrm>
          <a:off x="6492240" y="1984248"/>
          <a:ext cx="5150815" cy="3566160"/>
        </p:xfrm>
        <a:graphic>
          <a:graphicData uri="http://schemas.openxmlformats.org/drawingml/2006/chart">
            <c:chart xmlns:c="http://schemas.openxmlformats.org/drawingml/2006/chart" r:id="rId2"/>
          </a:graphicData>
        </a:graphic>
      </p:graphicFrame>
      <p:sp>
        <p:nvSpPr>
          <p:cNvPr id="11" name="TextBox 10"/>
          <p:cNvSpPr txBox="1"/>
          <p:nvPr/>
        </p:nvSpPr>
        <p:spPr>
          <a:xfrm>
            <a:off x="6492240" y="5596128"/>
            <a:ext cx="5150815" cy="274320"/>
          </a:xfrm>
          <a:prstGeom prst="rect">
            <a:avLst/>
          </a:prstGeom>
          <a:noFill/>
        </p:spPr>
        <p:txBody>
          <a:bodyPr wrap="square" lIns="0" rIns="0" tIns="0" bIns="0" anchor="t">
            <a:spAutoFit/>
          </a:bodyPr>
          <a:lstStyle/>
          <a:p>
            <a:pPr algn="l"/>
            <a:r>
              <a:rPr sz="1050" b="0" i="0">
                <a:solidFill>
                  <a:srgbClr val="86919A"/>
                </a:solidFill>
                <a:latin typeface="Calibri"/>
              </a:rPr>
              <a:t>Epoch (0-indexed). Schedule computed from the training hyper-parameters.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73952"/>
            <a:ext cx="914400" cy="228600"/>
          </a:xfrm>
          <a:prstGeom prst="rect">
            <a:avLst/>
          </a:prstGeom>
          <a:noFill/>
        </p:spPr>
        <p:txBody>
          <a:bodyPr wrap="square" lIns="0" rIns="0" tIns="0" bIns="0" anchor="t">
            <a:spAutoFit/>
          </a:bodyPr>
          <a:lstStyle/>
          <a:p>
            <a:pPr algn="r"/>
            <a:r>
              <a:rPr sz="1000" b="0" i="0">
                <a:solidFill>
                  <a:srgbClr val="86919A"/>
                </a:solidFill>
                <a:latin typeface="Calibri"/>
              </a:rPr>
              <a:t>9</a:t>
            </a:r>
          </a:p>
        </p:txBody>
      </p:sp>
      <p:sp>
        <p:nvSpPr>
          <p:cNvPr id="3" name="TextBox 2"/>
          <p:cNvSpPr txBox="1"/>
          <p:nvPr/>
        </p:nvSpPr>
        <p:spPr>
          <a:xfrm>
            <a:off x="548640" y="384048"/>
            <a:ext cx="7315200" cy="274320"/>
          </a:xfrm>
          <a:prstGeom prst="rect">
            <a:avLst/>
          </a:prstGeom>
          <a:noFill/>
        </p:spPr>
        <p:txBody>
          <a:bodyPr wrap="square" lIns="0" rIns="0" tIns="0" bIns="0" anchor="t">
            <a:spAutoFit/>
          </a:bodyPr>
          <a:lstStyle/>
          <a:p>
            <a:pPr algn="l"/>
            <a:r>
              <a:rPr sz="1100" b="1" i="0" spc="120">
                <a:solidFill>
                  <a:srgbClr val="2F7D5B"/>
                </a:solidFill>
                <a:latin typeface="Calibri"/>
              </a:rPr>
              <a:t>08 · A FAILURE WE FIXED</a:t>
            </a:r>
          </a:p>
        </p:txBody>
      </p:sp>
      <p:sp>
        <p:nvSpPr>
          <p:cNvPr id="4" name="TextBox 3"/>
          <p:cNvSpPr txBox="1"/>
          <p:nvPr/>
        </p:nvSpPr>
        <p:spPr>
          <a:xfrm>
            <a:off x="548640" y="658368"/>
            <a:ext cx="11094415" cy="566928"/>
          </a:xfrm>
          <a:prstGeom prst="rect">
            <a:avLst/>
          </a:prstGeom>
          <a:noFill/>
        </p:spPr>
        <p:txBody>
          <a:bodyPr wrap="square" lIns="0" rIns="0" tIns="0" bIns="0" anchor="t">
            <a:spAutoFit/>
          </a:bodyPr>
          <a:lstStyle/>
          <a:p>
            <a:pPr algn="l"/>
            <a:r>
              <a:rPr sz="3000" b="1" i="0">
                <a:solidFill>
                  <a:srgbClr val="1F2A2E"/>
                </a:solidFill>
                <a:latin typeface="Calibri"/>
              </a:rPr>
              <a:t>Diagnosing a training collapse</a:t>
            </a:r>
          </a:p>
        </p:txBody>
      </p:sp>
      <p:pic>
        <p:nvPicPr>
          <p:cNvPr id="5" name="Picture 4" descr="fig_collapse.png"/>
          <p:cNvPicPr>
            <a:picLocks noChangeAspect="1"/>
          </p:cNvPicPr>
          <p:nvPr/>
        </p:nvPicPr>
        <p:blipFill>
          <a:blip r:embed="rId2"/>
          <a:stretch>
            <a:fillRect/>
          </a:stretch>
        </p:blipFill>
        <p:spPr>
          <a:xfrm>
            <a:off x="548640" y="1572768"/>
            <a:ext cx="6675120" cy="4513898"/>
          </a:xfrm>
          <a:prstGeom prst="rect">
            <a:avLst/>
          </a:prstGeom>
        </p:spPr>
      </p:pic>
      <p:sp>
        <p:nvSpPr>
          <p:cNvPr id="6" name="Rounded Rectangle 5"/>
          <p:cNvSpPr/>
          <p:nvPr/>
        </p:nvSpPr>
        <p:spPr>
          <a:xfrm>
            <a:off x="7589519" y="1572768"/>
            <a:ext cx="4053535" cy="1353312"/>
          </a:xfrm>
          <a:prstGeom prst="roundRect">
            <a:avLst>
              <a:gd name="adj" fmla="val 7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90688" y="1700784"/>
            <a:ext cx="3687775" cy="274320"/>
          </a:xfrm>
          <a:prstGeom prst="rect">
            <a:avLst/>
          </a:prstGeom>
          <a:noFill/>
        </p:spPr>
        <p:txBody>
          <a:bodyPr wrap="square" lIns="0" rIns="0" tIns="0" bIns="0" anchor="t">
            <a:spAutoFit/>
          </a:bodyPr>
          <a:lstStyle/>
          <a:p>
            <a:pPr algn="l"/>
            <a:r>
              <a:rPr sz="1050" b="1" i="0">
                <a:solidFill>
                  <a:srgbClr val="2F7D5B"/>
                </a:solidFill>
                <a:latin typeface="Calibri"/>
              </a:rPr>
              <a:t>SYMPTOM</a:t>
            </a:r>
          </a:p>
        </p:txBody>
      </p:sp>
      <p:sp>
        <p:nvSpPr>
          <p:cNvPr id="8" name="TextBox 7"/>
          <p:cNvSpPr txBox="1"/>
          <p:nvPr/>
        </p:nvSpPr>
        <p:spPr>
          <a:xfrm>
            <a:off x="7790688" y="1975104"/>
            <a:ext cx="3687775" cy="914400"/>
          </a:xfrm>
          <a:prstGeom prst="rect">
            <a:avLst/>
          </a:prstGeom>
          <a:noFill/>
        </p:spPr>
        <p:txBody>
          <a:bodyPr wrap="square" lIns="0" rIns="0" tIns="0" bIns="0" anchor="t">
            <a:spAutoFit/>
          </a:bodyPr>
          <a:lstStyle/>
          <a:p>
            <a:pPr algn="l"/>
            <a:r>
              <a:rPr sz="1250" b="0" i="0">
                <a:solidFill>
                  <a:srgbClr val="1F2A2E"/>
                </a:solidFill>
                <a:latin typeface="Calibri"/>
              </a:rPr>
              <a:t>The collapsed checkpoint marked 81% of pixels as road on the sample tiles (fixed model: 3.2%).</a:t>
            </a:r>
          </a:p>
        </p:txBody>
      </p:sp>
      <p:sp>
        <p:nvSpPr>
          <p:cNvPr id="9" name="Rounded Rectangle 8"/>
          <p:cNvSpPr/>
          <p:nvPr/>
        </p:nvSpPr>
        <p:spPr>
          <a:xfrm>
            <a:off x="7589519" y="3054096"/>
            <a:ext cx="4053535" cy="1353312"/>
          </a:xfrm>
          <a:prstGeom prst="roundRect">
            <a:avLst>
              <a:gd name="adj" fmla="val 7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90688" y="3182112"/>
            <a:ext cx="3687775" cy="274320"/>
          </a:xfrm>
          <a:prstGeom prst="rect">
            <a:avLst/>
          </a:prstGeom>
          <a:noFill/>
        </p:spPr>
        <p:txBody>
          <a:bodyPr wrap="square" lIns="0" rIns="0" tIns="0" bIns="0" anchor="t">
            <a:spAutoFit/>
          </a:bodyPr>
          <a:lstStyle/>
          <a:p>
            <a:pPr algn="l"/>
            <a:r>
              <a:rPr sz="1050" b="1" i="0">
                <a:solidFill>
                  <a:srgbClr val="2F7D5B"/>
                </a:solidFill>
                <a:latin typeface="Calibri"/>
              </a:rPr>
              <a:t>CAUSE</a:t>
            </a:r>
          </a:p>
        </p:txBody>
      </p:sp>
      <p:sp>
        <p:nvSpPr>
          <p:cNvPr id="11" name="TextBox 10"/>
          <p:cNvSpPr txBox="1"/>
          <p:nvPr/>
        </p:nvSpPr>
        <p:spPr>
          <a:xfrm>
            <a:off x="7790688" y="3456432"/>
            <a:ext cx="3687775" cy="914400"/>
          </a:xfrm>
          <a:prstGeom prst="rect">
            <a:avLst/>
          </a:prstGeom>
          <a:noFill/>
        </p:spPr>
        <p:txBody>
          <a:bodyPr wrap="square" lIns="0" rIns="0" tIns="0" bIns="0" anchor="t">
            <a:spAutoFit/>
          </a:bodyPr>
          <a:lstStyle/>
          <a:p>
            <a:pPr algn="l"/>
            <a:r>
              <a:rPr sz="1250" b="0" i="0">
                <a:solidFill>
                  <a:srgbClr val="1F2A2E"/>
                </a:solidFill>
                <a:latin typeface="Calibri"/>
              </a:rPr>
              <a:t>Road pixels were weighted ×3, pushing a freshly initialised decoder toward “everything is road”; checkpoints were chosen by soft clDice, which scores a blanket prediction well.</a:t>
            </a:r>
          </a:p>
        </p:txBody>
      </p:sp>
      <p:sp>
        <p:nvSpPr>
          <p:cNvPr id="12" name="Rounded Rectangle 11"/>
          <p:cNvSpPr/>
          <p:nvPr/>
        </p:nvSpPr>
        <p:spPr>
          <a:xfrm>
            <a:off x="7589519" y="4535424"/>
            <a:ext cx="4053535" cy="1353312"/>
          </a:xfrm>
          <a:prstGeom prst="roundRect">
            <a:avLst>
              <a:gd name="adj" fmla="val 7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90688" y="4663440"/>
            <a:ext cx="3687775" cy="274320"/>
          </a:xfrm>
          <a:prstGeom prst="rect">
            <a:avLst/>
          </a:prstGeom>
          <a:noFill/>
        </p:spPr>
        <p:txBody>
          <a:bodyPr wrap="square" lIns="0" rIns="0" tIns="0" bIns="0" anchor="t">
            <a:spAutoFit/>
          </a:bodyPr>
          <a:lstStyle/>
          <a:p>
            <a:pPr algn="l"/>
            <a:r>
              <a:rPr sz="1050" b="1" i="0">
                <a:solidFill>
                  <a:srgbClr val="2F7D5B"/>
                </a:solidFill>
                <a:latin typeface="Calibri"/>
              </a:rPr>
              <a:t>FIX</a:t>
            </a:r>
          </a:p>
        </p:txBody>
      </p:sp>
      <p:sp>
        <p:nvSpPr>
          <p:cNvPr id="14" name="TextBox 13"/>
          <p:cNvSpPr txBox="1"/>
          <p:nvPr/>
        </p:nvSpPr>
        <p:spPr>
          <a:xfrm>
            <a:off x="7790688" y="4937760"/>
            <a:ext cx="3687775" cy="914400"/>
          </a:xfrm>
          <a:prstGeom prst="rect">
            <a:avLst/>
          </a:prstGeom>
          <a:noFill/>
        </p:spPr>
        <p:txBody>
          <a:bodyPr wrap="square" lIns="0" rIns="0" tIns="0" bIns="0" anchor="t">
            <a:spAutoFit/>
          </a:bodyPr>
          <a:lstStyle/>
          <a:p>
            <a:pPr algn="l"/>
            <a:r>
              <a:rPr sz="1250" b="0" i="0">
                <a:solidFill>
                  <a:srgbClr val="1F2A2E"/>
                </a:solidFill>
                <a:latin typeface="Calibri"/>
              </a:rPr>
              <a:t>Weight ×2; select checkpoints by IoU; reject any epoch predicting &gt;20% road; warm-start from the working baseline.</a:t>
            </a:r>
          </a:p>
        </p:txBody>
      </p:sp>
      <p:sp>
        <p:nvSpPr>
          <p:cNvPr id="15" name="TextBox 14"/>
          <p:cNvSpPr txBox="1"/>
          <p:nvPr/>
        </p:nvSpPr>
        <p:spPr>
          <a:xfrm>
            <a:off x="548640" y="6099048"/>
            <a:ext cx="6675120" cy="274320"/>
          </a:xfrm>
          <a:prstGeom prst="rect">
            <a:avLst/>
          </a:prstGeom>
          <a:noFill/>
        </p:spPr>
        <p:txBody>
          <a:bodyPr wrap="square" lIns="0" rIns="0" tIns="0" bIns="0" anchor="t">
            <a:spAutoFit/>
          </a:bodyPr>
          <a:lstStyle/>
          <a:p>
            <a:pPr algn="l"/>
            <a:r>
              <a:rPr sz="1100" b="0" i="0">
                <a:solidFill>
                  <a:srgbClr val="4E5B62"/>
                </a:solidFill>
                <a:latin typeface="Calibri"/>
              </a:rPr>
              <a:t>The collapsed run’s logged validation clDice loss was 0.215 — better-looking than the fixed model’s 0.701 — which is why it was saved as “best”.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73952"/>
            <a:ext cx="914400" cy="228600"/>
          </a:xfrm>
          <a:prstGeom prst="rect">
            <a:avLst/>
          </a:prstGeom>
          <a:noFill/>
        </p:spPr>
        <p:txBody>
          <a:bodyPr wrap="square" lIns="0" rIns="0" tIns="0" bIns="0" anchor="t">
            <a:spAutoFit/>
          </a:bodyPr>
          <a:lstStyle/>
          <a:p>
            <a:pPr algn="r"/>
            <a:r>
              <a:rPr sz="1000" b="0" i="0">
                <a:solidFill>
                  <a:srgbClr val="86919A"/>
                </a:solidFill>
                <a:latin typeface="Calibri"/>
              </a:rPr>
              <a:t>10</a:t>
            </a:r>
          </a:p>
        </p:txBody>
      </p:sp>
      <p:sp>
        <p:nvSpPr>
          <p:cNvPr id="3" name="TextBox 2"/>
          <p:cNvSpPr txBox="1"/>
          <p:nvPr/>
        </p:nvSpPr>
        <p:spPr>
          <a:xfrm>
            <a:off x="548640" y="384048"/>
            <a:ext cx="7315200" cy="274320"/>
          </a:xfrm>
          <a:prstGeom prst="rect">
            <a:avLst/>
          </a:prstGeom>
          <a:noFill/>
        </p:spPr>
        <p:txBody>
          <a:bodyPr wrap="square" lIns="0" rIns="0" tIns="0" bIns="0" anchor="t">
            <a:spAutoFit/>
          </a:bodyPr>
          <a:lstStyle/>
          <a:p>
            <a:pPr algn="l"/>
            <a:r>
              <a:rPr sz="1100" b="1" i="0" spc="120">
                <a:solidFill>
                  <a:srgbClr val="2F7D5B"/>
                </a:solidFill>
                <a:latin typeface="Calibri"/>
              </a:rPr>
              <a:t>09 · INFERENCE</a:t>
            </a:r>
          </a:p>
        </p:txBody>
      </p:sp>
      <p:sp>
        <p:nvSpPr>
          <p:cNvPr id="4" name="TextBox 3"/>
          <p:cNvSpPr txBox="1"/>
          <p:nvPr/>
        </p:nvSpPr>
        <p:spPr>
          <a:xfrm>
            <a:off x="548640" y="658368"/>
            <a:ext cx="11094415" cy="566928"/>
          </a:xfrm>
          <a:prstGeom prst="rect">
            <a:avLst/>
          </a:prstGeom>
          <a:noFill/>
        </p:spPr>
        <p:txBody>
          <a:bodyPr wrap="square" lIns="0" rIns="0" tIns="0" bIns="0" anchor="t">
            <a:spAutoFit/>
          </a:bodyPr>
          <a:lstStyle/>
          <a:p>
            <a:pPr algn="l"/>
            <a:r>
              <a:rPr sz="3000" b="1" i="0">
                <a:solidFill>
                  <a:srgbClr val="1F2A2E"/>
                </a:solidFill>
                <a:latin typeface="Calibri"/>
              </a:rPr>
              <a:t>Reconnecting fragmented roads</a:t>
            </a:r>
          </a:p>
        </p:txBody>
      </p:sp>
      <p:pic>
        <p:nvPicPr>
          <p:cNvPr id="5" name="Picture 4" descr="fig_pipeline_stages.png"/>
          <p:cNvPicPr>
            <a:picLocks noChangeAspect="1"/>
          </p:cNvPicPr>
          <p:nvPr/>
        </p:nvPicPr>
        <p:blipFill>
          <a:blip r:embed="rId2"/>
          <a:stretch>
            <a:fillRect/>
          </a:stretch>
        </p:blipFill>
        <p:spPr>
          <a:xfrm>
            <a:off x="1292057" y="1527048"/>
            <a:ext cx="9607579" cy="3291840"/>
          </a:xfrm>
          <a:prstGeom prst="rect">
            <a:avLst/>
          </a:prstGeom>
        </p:spPr>
      </p:pic>
      <p:sp>
        <p:nvSpPr>
          <p:cNvPr id="6" name="Oval 5"/>
          <p:cNvSpPr/>
          <p:nvPr/>
        </p:nvSpPr>
        <p:spPr>
          <a:xfrm>
            <a:off x="548640" y="5093207"/>
            <a:ext cx="384048" cy="384048"/>
          </a:xfrm>
          <a:prstGeom prst="ellipse">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a:t>
            </a:r>
          </a:p>
        </p:txBody>
      </p:sp>
      <p:sp>
        <p:nvSpPr>
          <p:cNvPr id="7" name="TextBox 6"/>
          <p:cNvSpPr txBox="1"/>
          <p:nvPr/>
        </p:nvSpPr>
        <p:spPr>
          <a:xfrm>
            <a:off x="1051560" y="5120640"/>
            <a:ext cx="3012338" cy="274320"/>
          </a:xfrm>
          <a:prstGeom prst="rect">
            <a:avLst/>
          </a:prstGeom>
          <a:noFill/>
        </p:spPr>
        <p:txBody>
          <a:bodyPr wrap="square" lIns="0" rIns="0" tIns="0" bIns="0" anchor="t">
            <a:spAutoFit/>
          </a:bodyPr>
          <a:lstStyle/>
          <a:p>
            <a:pPr algn="l"/>
            <a:r>
              <a:rPr sz="1400" b="1" i="0">
                <a:solidFill>
                  <a:srgbClr val="1F2A2E"/>
                </a:solidFill>
                <a:latin typeface="Calibri"/>
              </a:rPr>
              <a:t>Hysteresis threshold</a:t>
            </a:r>
          </a:p>
        </p:txBody>
      </p:sp>
      <p:sp>
        <p:nvSpPr>
          <p:cNvPr id="8" name="TextBox 7"/>
          <p:cNvSpPr txBox="1"/>
          <p:nvPr/>
        </p:nvSpPr>
        <p:spPr>
          <a:xfrm>
            <a:off x="1051560" y="5440679"/>
            <a:ext cx="3012338" cy="1005840"/>
          </a:xfrm>
          <a:prstGeom prst="rect">
            <a:avLst/>
          </a:prstGeom>
          <a:noFill/>
        </p:spPr>
        <p:txBody>
          <a:bodyPr wrap="square" lIns="0" rIns="0" tIns="0" bIns="0" anchor="t">
            <a:spAutoFit/>
          </a:bodyPr>
          <a:lstStyle/>
          <a:p>
            <a:pPr algn="l"/>
            <a:r>
              <a:rPr sz="1200" b="0" i="0">
                <a:solidFill>
                  <a:srgbClr val="4E5B62"/>
                </a:solidFill>
                <a:latin typeface="Calibri"/>
              </a:rPr>
              <a:t>Keep weak road pixels (0.12–0.35) only where they touch confident ones (≥0.35).</a:t>
            </a:r>
          </a:p>
        </p:txBody>
      </p:sp>
      <p:sp>
        <p:nvSpPr>
          <p:cNvPr id="9" name="Oval 8"/>
          <p:cNvSpPr/>
          <p:nvPr/>
        </p:nvSpPr>
        <p:spPr>
          <a:xfrm>
            <a:off x="4338218" y="5093207"/>
            <a:ext cx="384048" cy="384048"/>
          </a:xfrm>
          <a:prstGeom prst="ellipse">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2</a:t>
            </a:r>
          </a:p>
        </p:txBody>
      </p:sp>
      <p:sp>
        <p:nvSpPr>
          <p:cNvPr id="10" name="TextBox 9"/>
          <p:cNvSpPr txBox="1"/>
          <p:nvPr/>
        </p:nvSpPr>
        <p:spPr>
          <a:xfrm>
            <a:off x="4841138" y="5120640"/>
            <a:ext cx="3012338" cy="274320"/>
          </a:xfrm>
          <a:prstGeom prst="rect">
            <a:avLst/>
          </a:prstGeom>
          <a:noFill/>
        </p:spPr>
        <p:txBody>
          <a:bodyPr wrap="square" lIns="0" rIns="0" tIns="0" bIns="0" anchor="t">
            <a:spAutoFit/>
          </a:bodyPr>
          <a:lstStyle/>
          <a:p>
            <a:pPr algn="l"/>
            <a:r>
              <a:rPr sz="1400" b="1" i="0">
                <a:solidFill>
                  <a:srgbClr val="1F2A2E"/>
                </a:solidFill>
                <a:latin typeface="Calibri"/>
              </a:rPr>
              <a:t>Morphological closing</a:t>
            </a:r>
          </a:p>
        </p:txBody>
      </p:sp>
      <p:sp>
        <p:nvSpPr>
          <p:cNvPr id="11" name="TextBox 10"/>
          <p:cNvSpPr txBox="1"/>
          <p:nvPr/>
        </p:nvSpPr>
        <p:spPr>
          <a:xfrm>
            <a:off x="4841138" y="5440679"/>
            <a:ext cx="3012338" cy="1005840"/>
          </a:xfrm>
          <a:prstGeom prst="rect">
            <a:avLst/>
          </a:prstGeom>
          <a:noFill/>
        </p:spPr>
        <p:txBody>
          <a:bodyPr wrap="square" lIns="0" rIns="0" tIns="0" bIns="0" anchor="t">
            <a:spAutoFit/>
          </a:bodyPr>
          <a:lstStyle/>
          <a:p>
            <a:pPr algn="l"/>
            <a:r>
              <a:rPr sz="1200" b="0" i="0">
                <a:solidFill>
                  <a:srgbClr val="4E5B62"/>
                </a:solidFill>
                <a:latin typeface="Calibri"/>
              </a:rPr>
              <a:t>A 5×5 closing seals hairline breaks in the mask.</a:t>
            </a:r>
          </a:p>
        </p:txBody>
      </p:sp>
      <p:sp>
        <p:nvSpPr>
          <p:cNvPr id="12" name="Oval 11"/>
          <p:cNvSpPr/>
          <p:nvPr/>
        </p:nvSpPr>
        <p:spPr>
          <a:xfrm>
            <a:off x="8127796" y="5093207"/>
            <a:ext cx="384048" cy="384048"/>
          </a:xfrm>
          <a:prstGeom prst="ellipse">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3</a:t>
            </a:r>
          </a:p>
        </p:txBody>
      </p:sp>
      <p:sp>
        <p:nvSpPr>
          <p:cNvPr id="13" name="TextBox 12"/>
          <p:cNvSpPr txBox="1"/>
          <p:nvPr/>
        </p:nvSpPr>
        <p:spPr>
          <a:xfrm>
            <a:off x="8630716" y="5120640"/>
            <a:ext cx="3012338" cy="274320"/>
          </a:xfrm>
          <a:prstGeom prst="rect">
            <a:avLst/>
          </a:prstGeom>
          <a:noFill/>
        </p:spPr>
        <p:txBody>
          <a:bodyPr wrap="square" lIns="0" rIns="0" tIns="0" bIns="0" anchor="t">
            <a:spAutoFit/>
          </a:bodyPr>
          <a:lstStyle/>
          <a:p>
            <a:pPr algn="l"/>
            <a:r>
              <a:rPr sz="1400" b="1" i="0">
                <a:solidFill>
                  <a:srgbClr val="1F2A2E"/>
                </a:solidFill>
                <a:latin typeface="Calibri"/>
              </a:rPr>
              <a:t>Canopy-gap bridging</a:t>
            </a:r>
          </a:p>
        </p:txBody>
      </p:sp>
      <p:sp>
        <p:nvSpPr>
          <p:cNvPr id="14" name="TextBox 13"/>
          <p:cNvSpPr txBox="1"/>
          <p:nvPr/>
        </p:nvSpPr>
        <p:spPr>
          <a:xfrm>
            <a:off x="8630716" y="5440679"/>
            <a:ext cx="3012338" cy="1005840"/>
          </a:xfrm>
          <a:prstGeom prst="rect">
            <a:avLst/>
          </a:prstGeom>
          <a:noFill/>
        </p:spPr>
        <p:txBody>
          <a:bodyPr wrap="square" lIns="0" rIns="0" tIns="0" bIns="0" anchor="t">
            <a:spAutoFit/>
          </a:bodyPr>
          <a:lstStyle/>
          <a:p>
            <a:pPr algn="l"/>
            <a:r>
              <a:rPr sz="1200" b="0" i="0">
                <a:solidFill>
                  <a:srgbClr val="4E5B62"/>
                </a:solidFill>
                <a:latin typeface="Calibri"/>
              </a:rPr>
              <a:t>Skeletonise, find dead ends, and join pairs that face each other within 220 px and 65°; complete T-junctions. Road exits at the tile border are ignored.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73952"/>
            <a:ext cx="914400" cy="228600"/>
          </a:xfrm>
          <a:prstGeom prst="rect">
            <a:avLst/>
          </a:prstGeom>
          <a:noFill/>
        </p:spPr>
        <p:txBody>
          <a:bodyPr wrap="square" lIns="0" rIns="0" tIns="0" bIns="0" anchor="t">
            <a:spAutoFit/>
          </a:bodyPr>
          <a:lstStyle/>
          <a:p>
            <a:pPr algn="r"/>
            <a:r>
              <a:rPr sz="1000" b="0" i="0">
                <a:solidFill>
                  <a:srgbClr val="86919A"/>
                </a:solidFill>
                <a:latin typeface="Calibri"/>
              </a:rPr>
              <a:t>11</a:t>
            </a:r>
          </a:p>
        </p:txBody>
      </p:sp>
      <p:sp>
        <p:nvSpPr>
          <p:cNvPr id="3" name="TextBox 2"/>
          <p:cNvSpPr txBox="1"/>
          <p:nvPr/>
        </p:nvSpPr>
        <p:spPr>
          <a:xfrm>
            <a:off x="548640" y="384048"/>
            <a:ext cx="7315200" cy="274320"/>
          </a:xfrm>
          <a:prstGeom prst="rect">
            <a:avLst/>
          </a:prstGeom>
          <a:noFill/>
        </p:spPr>
        <p:txBody>
          <a:bodyPr wrap="square" lIns="0" rIns="0" tIns="0" bIns="0" anchor="t">
            <a:spAutoFit/>
          </a:bodyPr>
          <a:lstStyle/>
          <a:p>
            <a:pPr algn="l"/>
            <a:r>
              <a:rPr sz="1100" b="1" i="0" spc="120">
                <a:solidFill>
                  <a:srgbClr val="2F7D5B"/>
                </a:solidFill>
                <a:latin typeface="Calibri"/>
              </a:rPr>
              <a:t>10 · TOOLS</a:t>
            </a:r>
          </a:p>
        </p:txBody>
      </p:sp>
      <p:sp>
        <p:nvSpPr>
          <p:cNvPr id="4" name="TextBox 3"/>
          <p:cNvSpPr txBox="1"/>
          <p:nvPr/>
        </p:nvSpPr>
        <p:spPr>
          <a:xfrm>
            <a:off x="548640" y="658368"/>
            <a:ext cx="11094415" cy="566928"/>
          </a:xfrm>
          <a:prstGeom prst="rect">
            <a:avLst/>
          </a:prstGeom>
          <a:noFill/>
        </p:spPr>
        <p:txBody>
          <a:bodyPr wrap="square" lIns="0" rIns="0" tIns="0" bIns="0" anchor="t">
            <a:spAutoFit/>
          </a:bodyPr>
          <a:lstStyle/>
          <a:p>
            <a:pPr algn="l"/>
            <a:r>
              <a:rPr sz="3000" b="1" i="0">
                <a:solidFill>
                  <a:srgbClr val="1F2A2E"/>
                </a:solidFill>
                <a:latin typeface="Calibri"/>
              </a:rPr>
              <a:t>Technology stack</a:t>
            </a:r>
          </a:p>
        </p:txBody>
      </p:sp>
      <p:sp>
        <p:nvSpPr>
          <p:cNvPr id="5" name="Rounded Rectangle 4"/>
          <p:cNvSpPr/>
          <p:nvPr/>
        </p:nvSpPr>
        <p:spPr>
          <a:xfrm>
            <a:off x="548640" y="1709928"/>
            <a:ext cx="2567863" cy="2103120"/>
          </a:xfrm>
          <a:prstGeom prst="roundRect">
            <a:avLst>
              <a:gd name="adj" fmla="val 6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77240" y="1984248"/>
            <a:ext cx="384048" cy="384048"/>
          </a:xfrm>
          <a:prstGeom prst="ellipse">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a:t>
            </a:r>
          </a:p>
        </p:txBody>
      </p:sp>
      <p:sp>
        <p:nvSpPr>
          <p:cNvPr id="7" name="TextBox 6"/>
          <p:cNvSpPr txBox="1"/>
          <p:nvPr/>
        </p:nvSpPr>
        <p:spPr>
          <a:xfrm>
            <a:off x="777240" y="2578608"/>
            <a:ext cx="2110663" cy="365760"/>
          </a:xfrm>
          <a:prstGeom prst="rect">
            <a:avLst/>
          </a:prstGeom>
          <a:noFill/>
        </p:spPr>
        <p:txBody>
          <a:bodyPr wrap="square" lIns="0" rIns="0" tIns="0" bIns="0" anchor="t">
            <a:spAutoFit/>
          </a:bodyPr>
          <a:lstStyle/>
          <a:p>
            <a:pPr algn="l"/>
            <a:r>
              <a:rPr sz="1700" b="1" i="0">
                <a:solidFill>
                  <a:srgbClr val="1F2A2E"/>
                </a:solidFill>
                <a:latin typeface="Calibri"/>
              </a:rPr>
              <a:t>PyTorch</a:t>
            </a:r>
          </a:p>
        </p:txBody>
      </p:sp>
      <p:sp>
        <p:nvSpPr>
          <p:cNvPr id="8" name="TextBox 7"/>
          <p:cNvSpPr txBox="1"/>
          <p:nvPr/>
        </p:nvSpPr>
        <p:spPr>
          <a:xfrm>
            <a:off x="777240" y="3035808"/>
            <a:ext cx="2110663" cy="731520"/>
          </a:xfrm>
          <a:prstGeom prst="rect">
            <a:avLst/>
          </a:prstGeom>
          <a:noFill/>
        </p:spPr>
        <p:txBody>
          <a:bodyPr wrap="square" lIns="0" rIns="0" tIns="0" bIns="0" anchor="t">
            <a:spAutoFit/>
          </a:bodyPr>
          <a:lstStyle/>
          <a:p>
            <a:pPr algn="l"/>
            <a:r>
              <a:rPr sz="1300" b="0" i="0">
                <a:solidFill>
                  <a:srgbClr val="4E5B62"/>
                </a:solidFill>
                <a:latin typeface="Calibri"/>
              </a:rPr>
              <a:t>Model definition, training with mixed precision</a:t>
            </a:r>
          </a:p>
        </p:txBody>
      </p:sp>
      <p:sp>
        <p:nvSpPr>
          <p:cNvPr id="9" name="Rounded Rectangle 8"/>
          <p:cNvSpPr/>
          <p:nvPr/>
        </p:nvSpPr>
        <p:spPr>
          <a:xfrm>
            <a:off x="3390823" y="1709928"/>
            <a:ext cx="2567863" cy="2103120"/>
          </a:xfrm>
          <a:prstGeom prst="roundRect">
            <a:avLst>
              <a:gd name="adj" fmla="val 6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619423" y="1984248"/>
            <a:ext cx="384048" cy="384048"/>
          </a:xfrm>
          <a:prstGeom prst="ellipse">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2</a:t>
            </a:r>
          </a:p>
        </p:txBody>
      </p:sp>
      <p:sp>
        <p:nvSpPr>
          <p:cNvPr id="11" name="TextBox 10"/>
          <p:cNvSpPr txBox="1"/>
          <p:nvPr/>
        </p:nvSpPr>
        <p:spPr>
          <a:xfrm>
            <a:off x="3619423" y="2578608"/>
            <a:ext cx="2110663" cy="365760"/>
          </a:xfrm>
          <a:prstGeom prst="rect">
            <a:avLst/>
          </a:prstGeom>
          <a:noFill/>
        </p:spPr>
        <p:txBody>
          <a:bodyPr wrap="square" lIns="0" rIns="0" tIns="0" bIns="0" anchor="t">
            <a:spAutoFit/>
          </a:bodyPr>
          <a:lstStyle/>
          <a:p>
            <a:pPr algn="l"/>
            <a:r>
              <a:rPr sz="1700" b="1" i="0">
                <a:solidFill>
                  <a:srgbClr val="1F2A2E"/>
                </a:solidFill>
                <a:latin typeface="Calibri"/>
              </a:rPr>
              <a:t>Albumentations</a:t>
            </a:r>
          </a:p>
        </p:txBody>
      </p:sp>
      <p:sp>
        <p:nvSpPr>
          <p:cNvPr id="12" name="TextBox 11"/>
          <p:cNvSpPr txBox="1"/>
          <p:nvPr/>
        </p:nvSpPr>
        <p:spPr>
          <a:xfrm>
            <a:off x="3619423" y="3035808"/>
            <a:ext cx="2110663" cy="731520"/>
          </a:xfrm>
          <a:prstGeom prst="rect">
            <a:avLst/>
          </a:prstGeom>
          <a:noFill/>
        </p:spPr>
        <p:txBody>
          <a:bodyPr wrap="square" lIns="0" rIns="0" tIns="0" bIns="0" anchor="t">
            <a:spAutoFit/>
          </a:bodyPr>
          <a:lstStyle/>
          <a:p>
            <a:pPr algn="l"/>
            <a:r>
              <a:rPr sz="1300" b="0" i="0">
                <a:solidFill>
                  <a:srgbClr val="4E5B62"/>
                </a:solidFill>
                <a:latin typeface="Calibri"/>
              </a:rPr>
              <a:t>Crops, flips, colour and canopy-shadow augmentation</a:t>
            </a:r>
          </a:p>
        </p:txBody>
      </p:sp>
      <p:sp>
        <p:nvSpPr>
          <p:cNvPr id="13" name="Rounded Rectangle 12"/>
          <p:cNvSpPr/>
          <p:nvPr/>
        </p:nvSpPr>
        <p:spPr>
          <a:xfrm>
            <a:off x="6233007" y="1709928"/>
            <a:ext cx="2567863" cy="2103120"/>
          </a:xfrm>
          <a:prstGeom prst="roundRect">
            <a:avLst>
              <a:gd name="adj" fmla="val 6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61607" y="1984248"/>
            <a:ext cx="384048" cy="384048"/>
          </a:xfrm>
          <a:prstGeom prst="ellipse">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3</a:t>
            </a:r>
          </a:p>
        </p:txBody>
      </p:sp>
      <p:sp>
        <p:nvSpPr>
          <p:cNvPr id="15" name="TextBox 14"/>
          <p:cNvSpPr txBox="1"/>
          <p:nvPr/>
        </p:nvSpPr>
        <p:spPr>
          <a:xfrm>
            <a:off x="6461607" y="2578608"/>
            <a:ext cx="2110663" cy="365760"/>
          </a:xfrm>
          <a:prstGeom prst="rect">
            <a:avLst/>
          </a:prstGeom>
          <a:noFill/>
        </p:spPr>
        <p:txBody>
          <a:bodyPr wrap="square" lIns="0" rIns="0" tIns="0" bIns="0" anchor="t">
            <a:spAutoFit/>
          </a:bodyPr>
          <a:lstStyle/>
          <a:p>
            <a:pPr algn="l"/>
            <a:r>
              <a:rPr sz="1700" b="1" i="0">
                <a:solidFill>
                  <a:srgbClr val="1F2A2E"/>
                </a:solidFill>
                <a:latin typeface="Calibri"/>
              </a:rPr>
              <a:t>OpenCV · scikit-image</a:t>
            </a:r>
          </a:p>
        </p:txBody>
      </p:sp>
      <p:sp>
        <p:nvSpPr>
          <p:cNvPr id="16" name="TextBox 15"/>
          <p:cNvSpPr txBox="1"/>
          <p:nvPr/>
        </p:nvSpPr>
        <p:spPr>
          <a:xfrm>
            <a:off x="6461607" y="3035808"/>
            <a:ext cx="2110663" cy="731520"/>
          </a:xfrm>
          <a:prstGeom prst="rect">
            <a:avLst/>
          </a:prstGeom>
          <a:noFill/>
        </p:spPr>
        <p:txBody>
          <a:bodyPr wrap="square" lIns="0" rIns="0" tIns="0" bIns="0" anchor="t">
            <a:spAutoFit/>
          </a:bodyPr>
          <a:lstStyle/>
          <a:p>
            <a:pPr algn="l"/>
            <a:r>
              <a:rPr sz="1300" b="0" i="0">
                <a:solidFill>
                  <a:srgbClr val="4E5B62"/>
                </a:solidFill>
                <a:latin typeface="Calibri"/>
              </a:rPr>
              <a:t>Thresholding, morphology, skeletons, gap bridging</a:t>
            </a:r>
          </a:p>
        </p:txBody>
      </p:sp>
      <p:sp>
        <p:nvSpPr>
          <p:cNvPr id="17" name="Rounded Rectangle 16"/>
          <p:cNvSpPr/>
          <p:nvPr/>
        </p:nvSpPr>
        <p:spPr>
          <a:xfrm>
            <a:off x="9075191" y="1709928"/>
            <a:ext cx="2567863" cy="2103120"/>
          </a:xfrm>
          <a:prstGeom prst="roundRect">
            <a:avLst>
              <a:gd name="adj" fmla="val 6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9303791" y="1984248"/>
            <a:ext cx="384048" cy="384048"/>
          </a:xfrm>
          <a:prstGeom prst="ellipse">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4</a:t>
            </a:r>
          </a:p>
        </p:txBody>
      </p:sp>
      <p:sp>
        <p:nvSpPr>
          <p:cNvPr id="19" name="TextBox 18"/>
          <p:cNvSpPr txBox="1"/>
          <p:nvPr/>
        </p:nvSpPr>
        <p:spPr>
          <a:xfrm>
            <a:off x="9303791" y="2578608"/>
            <a:ext cx="2110663" cy="365760"/>
          </a:xfrm>
          <a:prstGeom prst="rect">
            <a:avLst/>
          </a:prstGeom>
          <a:noFill/>
        </p:spPr>
        <p:txBody>
          <a:bodyPr wrap="square" lIns="0" rIns="0" tIns="0" bIns="0" anchor="t">
            <a:spAutoFit/>
          </a:bodyPr>
          <a:lstStyle/>
          <a:p>
            <a:pPr algn="l"/>
            <a:r>
              <a:rPr sz="1700" b="1" i="0">
                <a:solidFill>
                  <a:srgbClr val="1F2A2E"/>
                </a:solidFill>
                <a:latin typeface="Calibri"/>
              </a:rPr>
              <a:t>ONNX · ONNX Runtime</a:t>
            </a:r>
          </a:p>
        </p:txBody>
      </p:sp>
      <p:sp>
        <p:nvSpPr>
          <p:cNvPr id="20" name="TextBox 19"/>
          <p:cNvSpPr txBox="1"/>
          <p:nvPr/>
        </p:nvSpPr>
        <p:spPr>
          <a:xfrm>
            <a:off x="9303791" y="3035808"/>
            <a:ext cx="2110663" cy="731520"/>
          </a:xfrm>
          <a:prstGeom prst="rect">
            <a:avLst/>
          </a:prstGeom>
          <a:noFill/>
        </p:spPr>
        <p:txBody>
          <a:bodyPr wrap="square" lIns="0" rIns="0" tIns="0" bIns="0" anchor="t">
            <a:spAutoFit/>
          </a:bodyPr>
          <a:lstStyle/>
          <a:p>
            <a:pPr algn="l"/>
            <a:r>
              <a:rPr sz="1300" b="0" i="0">
                <a:solidFill>
                  <a:srgbClr val="4E5B62"/>
                </a:solidFill>
                <a:latin typeface="Calibri"/>
              </a:rPr>
              <a:t>Export and PyTorch-free inference on CPU / edge</a:t>
            </a:r>
          </a:p>
        </p:txBody>
      </p:sp>
      <p:sp>
        <p:nvSpPr>
          <p:cNvPr id="21" name="Rounded Rectangle 20"/>
          <p:cNvSpPr/>
          <p:nvPr/>
        </p:nvSpPr>
        <p:spPr>
          <a:xfrm>
            <a:off x="548640" y="4087368"/>
            <a:ext cx="2567863" cy="2103120"/>
          </a:xfrm>
          <a:prstGeom prst="roundRect">
            <a:avLst>
              <a:gd name="adj" fmla="val 6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777240" y="4361688"/>
            <a:ext cx="384048" cy="384048"/>
          </a:xfrm>
          <a:prstGeom prst="ellipse">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5</a:t>
            </a:r>
          </a:p>
        </p:txBody>
      </p:sp>
      <p:sp>
        <p:nvSpPr>
          <p:cNvPr id="23" name="TextBox 22"/>
          <p:cNvSpPr txBox="1"/>
          <p:nvPr/>
        </p:nvSpPr>
        <p:spPr>
          <a:xfrm>
            <a:off x="777240" y="4956048"/>
            <a:ext cx="2110663" cy="365760"/>
          </a:xfrm>
          <a:prstGeom prst="rect">
            <a:avLst/>
          </a:prstGeom>
          <a:noFill/>
        </p:spPr>
        <p:txBody>
          <a:bodyPr wrap="square" lIns="0" rIns="0" tIns="0" bIns="0" anchor="t">
            <a:spAutoFit/>
          </a:bodyPr>
          <a:lstStyle/>
          <a:p>
            <a:pPr algn="l"/>
            <a:r>
              <a:rPr sz="1700" b="1" i="0">
                <a:solidFill>
                  <a:srgbClr val="1F2A2E"/>
                </a:solidFill>
                <a:latin typeface="Calibri"/>
              </a:rPr>
              <a:t>Kaggle GPU notebooks</a:t>
            </a:r>
          </a:p>
        </p:txBody>
      </p:sp>
      <p:sp>
        <p:nvSpPr>
          <p:cNvPr id="24" name="TextBox 23"/>
          <p:cNvSpPr txBox="1"/>
          <p:nvPr/>
        </p:nvSpPr>
        <p:spPr>
          <a:xfrm>
            <a:off x="777240" y="5413248"/>
            <a:ext cx="2110663" cy="731520"/>
          </a:xfrm>
          <a:prstGeom prst="rect">
            <a:avLst/>
          </a:prstGeom>
          <a:noFill/>
        </p:spPr>
        <p:txBody>
          <a:bodyPr wrap="square" lIns="0" rIns="0" tIns="0" bIns="0" anchor="t">
            <a:spAutoFit/>
          </a:bodyPr>
          <a:lstStyle/>
          <a:p>
            <a:pPr algn="l"/>
            <a:r>
              <a:rPr sz="1300" b="0" i="0">
                <a:solidFill>
                  <a:srgbClr val="4E5B62"/>
                </a:solidFill>
                <a:latin typeface="Calibri"/>
              </a:rPr>
              <a:t>Training and held-out evaluation</a:t>
            </a:r>
          </a:p>
        </p:txBody>
      </p:sp>
      <p:sp>
        <p:nvSpPr>
          <p:cNvPr id="25" name="Rounded Rectangle 24"/>
          <p:cNvSpPr/>
          <p:nvPr/>
        </p:nvSpPr>
        <p:spPr>
          <a:xfrm>
            <a:off x="3390823" y="4087368"/>
            <a:ext cx="2567863" cy="2103120"/>
          </a:xfrm>
          <a:prstGeom prst="roundRect">
            <a:avLst>
              <a:gd name="adj" fmla="val 6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3619423" y="4361688"/>
            <a:ext cx="384048" cy="384048"/>
          </a:xfrm>
          <a:prstGeom prst="ellipse">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6</a:t>
            </a:r>
          </a:p>
        </p:txBody>
      </p:sp>
      <p:sp>
        <p:nvSpPr>
          <p:cNvPr id="27" name="TextBox 26"/>
          <p:cNvSpPr txBox="1"/>
          <p:nvPr/>
        </p:nvSpPr>
        <p:spPr>
          <a:xfrm>
            <a:off x="3619423" y="4956048"/>
            <a:ext cx="2110663" cy="365760"/>
          </a:xfrm>
          <a:prstGeom prst="rect">
            <a:avLst/>
          </a:prstGeom>
          <a:noFill/>
        </p:spPr>
        <p:txBody>
          <a:bodyPr wrap="square" lIns="0" rIns="0" tIns="0" bIns="0" anchor="t">
            <a:spAutoFit/>
          </a:bodyPr>
          <a:lstStyle/>
          <a:p>
            <a:pPr algn="l"/>
            <a:r>
              <a:rPr sz="1700" b="1" i="0">
                <a:solidFill>
                  <a:srgbClr val="1F2A2E"/>
                </a:solidFill>
                <a:latin typeface="Calibri"/>
              </a:rPr>
              <a:t>NetworkX</a:t>
            </a:r>
          </a:p>
        </p:txBody>
      </p:sp>
      <p:sp>
        <p:nvSpPr>
          <p:cNvPr id="28" name="TextBox 27"/>
          <p:cNvSpPr txBox="1"/>
          <p:nvPr/>
        </p:nvSpPr>
        <p:spPr>
          <a:xfrm>
            <a:off x="3619423" y="5413248"/>
            <a:ext cx="2110663" cy="731520"/>
          </a:xfrm>
          <a:prstGeom prst="rect">
            <a:avLst/>
          </a:prstGeom>
          <a:noFill/>
        </p:spPr>
        <p:txBody>
          <a:bodyPr wrap="square" lIns="0" rIns="0" tIns="0" bIns="0" anchor="t">
            <a:spAutoFit/>
          </a:bodyPr>
          <a:lstStyle/>
          <a:p>
            <a:pPr algn="l"/>
            <a:r>
              <a:rPr sz="1300" b="0" i="0">
                <a:solidFill>
                  <a:srgbClr val="4E5B62"/>
                </a:solidFill>
                <a:latin typeface="Calibri"/>
              </a:rPr>
              <a:t>Converting road masks into graphs</a:t>
            </a:r>
          </a:p>
        </p:txBody>
      </p:sp>
      <p:sp>
        <p:nvSpPr>
          <p:cNvPr id="29" name="Rounded Rectangle 28"/>
          <p:cNvSpPr/>
          <p:nvPr/>
        </p:nvSpPr>
        <p:spPr>
          <a:xfrm>
            <a:off x="6233007" y="4087368"/>
            <a:ext cx="2567863" cy="2103120"/>
          </a:xfrm>
          <a:prstGeom prst="roundRect">
            <a:avLst>
              <a:gd name="adj" fmla="val 6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6461607" y="4361688"/>
            <a:ext cx="384048" cy="384048"/>
          </a:xfrm>
          <a:prstGeom prst="ellipse">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7</a:t>
            </a:r>
          </a:p>
        </p:txBody>
      </p:sp>
      <p:sp>
        <p:nvSpPr>
          <p:cNvPr id="31" name="TextBox 30"/>
          <p:cNvSpPr txBox="1"/>
          <p:nvPr/>
        </p:nvSpPr>
        <p:spPr>
          <a:xfrm>
            <a:off x="6461607" y="4956048"/>
            <a:ext cx="2110663" cy="365760"/>
          </a:xfrm>
          <a:prstGeom prst="rect">
            <a:avLst/>
          </a:prstGeom>
          <a:noFill/>
        </p:spPr>
        <p:txBody>
          <a:bodyPr wrap="square" lIns="0" rIns="0" tIns="0" bIns="0" anchor="t">
            <a:spAutoFit/>
          </a:bodyPr>
          <a:lstStyle/>
          <a:p>
            <a:pPr algn="l"/>
            <a:r>
              <a:rPr sz="1700" b="1" i="0">
                <a:solidFill>
                  <a:srgbClr val="1F2A2E"/>
                </a:solidFill>
                <a:latin typeface="Calibri"/>
              </a:rPr>
              <a:t>Streamlit</a:t>
            </a:r>
          </a:p>
        </p:txBody>
      </p:sp>
      <p:sp>
        <p:nvSpPr>
          <p:cNvPr id="32" name="TextBox 31"/>
          <p:cNvSpPr txBox="1"/>
          <p:nvPr/>
        </p:nvSpPr>
        <p:spPr>
          <a:xfrm>
            <a:off x="6461607" y="5413248"/>
            <a:ext cx="2110663" cy="731520"/>
          </a:xfrm>
          <a:prstGeom prst="rect">
            <a:avLst/>
          </a:prstGeom>
          <a:noFill/>
        </p:spPr>
        <p:txBody>
          <a:bodyPr wrap="square" lIns="0" rIns="0" tIns="0" bIns="0" anchor="t">
            <a:spAutoFit/>
          </a:bodyPr>
          <a:lstStyle/>
          <a:p>
            <a:pPr algn="l"/>
            <a:r>
              <a:rPr sz="1300" b="0" i="0">
                <a:solidFill>
                  <a:srgbClr val="4E5B62"/>
                </a:solidFill>
                <a:latin typeface="Calibri"/>
              </a:rPr>
              <a:t>Interactive demo application</a:t>
            </a:r>
          </a:p>
        </p:txBody>
      </p:sp>
      <p:sp>
        <p:nvSpPr>
          <p:cNvPr id="33" name="Rounded Rectangle 32"/>
          <p:cNvSpPr/>
          <p:nvPr/>
        </p:nvSpPr>
        <p:spPr>
          <a:xfrm>
            <a:off x="9075191" y="4087368"/>
            <a:ext cx="2567863" cy="2103120"/>
          </a:xfrm>
          <a:prstGeom prst="roundRect">
            <a:avLst>
              <a:gd name="adj" fmla="val 6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9303791" y="4361688"/>
            <a:ext cx="384048" cy="384048"/>
          </a:xfrm>
          <a:prstGeom prst="ellipse">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8</a:t>
            </a:r>
          </a:p>
        </p:txBody>
      </p:sp>
      <p:sp>
        <p:nvSpPr>
          <p:cNvPr id="35" name="TextBox 34"/>
          <p:cNvSpPr txBox="1"/>
          <p:nvPr/>
        </p:nvSpPr>
        <p:spPr>
          <a:xfrm>
            <a:off x="9303791" y="4956048"/>
            <a:ext cx="2110663" cy="365760"/>
          </a:xfrm>
          <a:prstGeom prst="rect">
            <a:avLst/>
          </a:prstGeom>
          <a:noFill/>
        </p:spPr>
        <p:txBody>
          <a:bodyPr wrap="square" lIns="0" rIns="0" tIns="0" bIns="0" anchor="t">
            <a:spAutoFit/>
          </a:bodyPr>
          <a:lstStyle/>
          <a:p>
            <a:pPr algn="l"/>
            <a:r>
              <a:rPr sz="1700" b="1" i="0">
                <a:solidFill>
                  <a:srgbClr val="1F2A2E"/>
                </a:solidFill>
                <a:latin typeface="Calibri"/>
              </a:rPr>
              <a:t>Matplotlib</a:t>
            </a:r>
          </a:p>
        </p:txBody>
      </p:sp>
      <p:sp>
        <p:nvSpPr>
          <p:cNvPr id="36" name="TextBox 35"/>
          <p:cNvSpPr txBox="1"/>
          <p:nvPr/>
        </p:nvSpPr>
        <p:spPr>
          <a:xfrm>
            <a:off x="9303791" y="5413248"/>
            <a:ext cx="2110663" cy="731520"/>
          </a:xfrm>
          <a:prstGeom prst="rect">
            <a:avLst/>
          </a:prstGeom>
          <a:noFill/>
        </p:spPr>
        <p:txBody>
          <a:bodyPr wrap="square" lIns="0" rIns="0" tIns="0" bIns="0" anchor="t">
            <a:spAutoFit/>
          </a:bodyPr>
          <a:lstStyle/>
          <a:p>
            <a:pPr algn="l"/>
            <a:r>
              <a:rPr sz="1300" b="0" i="0">
                <a:solidFill>
                  <a:srgbClr val="4E5B62"/>
                </a:solidFill>
                <a:latin typeface="Calibri"/>
              </a:rPr>
              <a:t>All figures, from measured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73952"/>
            <a:ext cx="914400" cy="228600"/>
          </a:xfrm>
          <a:prstGeom prst="rect">
            <a:avLst/>
          </a:prstGeom>
          <a:noFill/>
        </p:spPr>
        <p:txBody>
          <a:bodyPr wrap="square" lIns="0" rIns="0" tIns="0" bIns="0" anchor="t">
            <a:spAutoFit/>
          </a:bodyPr>
          <a:lstStyle/>
          <a:p>
            <a:pPr algn="r"/>
            <a:r>
              <a:rPr sz="1000" b="0" i="0">
                <a:solidFill>
                  <a:srgbClr val="86919A"/>
                </a:solidFill>
                <a:latin typeface="Calibri"/>
              </a:rPr>
              <a:t>12</a:t>
            </a:r>
          </a:p>
        </p:txBody>
      </p:sp>
      <p:sp>
        <p:nvSpPr>
          <p:cNvPr id="3" name="TextBox 2"/>
          <p:cNvSpPr txBox="1"/>
          <p:nvPr/>
        </p:nvSpPr>
        <p:spPr>
          <a:xfrm>
            <a:off x="548640" y="384048"/>
            <a:ext cx="7315200" cy="274320"/>
          </a:xfrm>
          <a:prstGeom prst="rect">
            <a:avLst/>
          </a:prstGeom>
          <a:noFill/>
        </p:spPr>
        <p:txBody>
          <a:bodyPr wrap="square" lIns="0" rIns="0" tIns="0" bIns="0" anchor="t">
            <a:spAutoFit/>
          </a:bodyPr>
          <a:lstStyle/>
          <a:p>
            <a:pPr algn="l"/>
            <a:r>
              <a:rPr sz="1100" b="1" i="0" spc="120">
                <a:solidFill>
                  <a:srgbClr val="2F7D5B"/>
                </a:solidFill>
                <a:latin typeface="Calibri"/>
              </a:rPr>
              <a:t>11 · RESULTS: EFFICIENCY</a:t>
            </a:r>
          </a:p>
        </p:txBody>
      </p:sp>
      <p:sp>
        <p:nvSpPr>
          <p:cNvPr id="4" name="TextBox 3"/>
          <p:cNvSpPr txBox="1"/>
          <p:nvPr/>
        </p:nvSpPr>
        <p:spPr>
          <a:xfrm>
            <a:off x="548640" y="658368"/>
            <a:ext cx="11094415" cy="566928"/>
          </a:xfrm>
          <a:prstGeom prst="rect">
            <a:avLst/>
          </a:prstGeom>
          <a:noFill/>
        </p:spPr>
        <p:txBody>
          <a:bodyPr wrap="square" lIns="0" rIns="0" tIns="0" bIns="0" anchor="t">
            <a:spAutoFit/>
          </a:bodyPr>
          <a:lstStyle/>
          <a:p>
            <a:pPr algn="l"/>
            <a:r>
              <a:rPr sz="3000" b="1" i="0">
                <a:solidFill>
                  <a:srgbClr val="1F2A2E"/>
                </a:solidFill>
                <a:latin typeface="Calibri"/>
              </a:rPr>
              <a:t>Measured compute cost</a:t>
            </a:r>
          </a:p>
        </p:txBody>
      </p:sp>
      <p:sp>
        <p:nvSpPr>
          <p:cNvPr id="5" name="TextBox 4"/>
          <p:cNvSpPr txBox="1"/>
          <p:nvPr/>
        </p:nvSpPr>
        <p:spPr>
          <a:xfrm>
            <a:off x="548640" y="1572768"/>
            <a:ext cx="2567863" cy="502920"/>
          </a:xfrm>
          <a:prstGeom prst="rect">
            <a:avLst/>
          </a:prstGeom>
          <a:noFill/>
        </p:spPr>
        <p:txBody>
          <a:bodyPr wrap="square" lIns="0" rIns="0" tIns="0" bIns="0" anchor="t">
            <a:spAutoFit/>
          </a:bodyPr>
          <a:lstStyle/>
          <a:p>
            <a:pPr algn="l"/>
            <a:r>
              <a:rPr sz="3000" b="1" i="0">
                <a:solidFill>
                  <a:srgbClr val="2F7D5B"/>
                </a:solidFill>
                <a:latin typeface="Calibri"/>
              </a:rPr>
              <a:t>1.6 M</a:t>
            </a:r>
          </a:p>
        </p:txBody>
      </p:sp>
      <p:sp>
        <p:nvSpPr>
          <p:cNvPr id="6" name="TextBox 5"/>
          <p:cNvSpPr txBox="1"/>
          <p:nvPr/>
        </p:nvSpPr>
        <p:spPr>
          <a:xfrm>
            <a:off x="548640" y="2103120"/>
            <a:ext cx="2567863" cy="548640"/>
          </a:xfrm>
          <a:prstGeom prst="rect">
            <a:avLst/>
          </a:prstGeom>
          <a:noFill/>
        </p:spPr>
        <p:txBody>
          <a:bodyPr wrap="square" lIns="0" rIns="0" tIns="0" bIns="0" anchor="t">
            <a:spAutoFit/>
          </a:bodyPr>
          <a:lstStyle/>
          <a:p>
            <a:pPr algn="l"/>
            <a:r>
              <a:rPr sz="1200" b="0" i="0">
                <a:solidFill>
                  <a:srgbClr val="4E5B62"/>
                </a:solidFill>
                <a:latin typeface="Calibri"/>
              </a:rPr>
              <a:t>parameters — 19× fewer than U-Net</a:t>
            </a:r>
          </a:p>
        </p:txBody>
      </p:sp>
      <p:sp>
        <p:nvSpPr>
          <p:cNvPr id="7" name="TextBox 6"/>
          <p:cNvSpPr txBox="1"/>
          <p:nvPr/>
        </p:nvSpPr>
        <p:spPr>
          <a:xfrm>
            <a:off x="3390823" y="1572768"/>
            <a:ext cx="2567863" cy="502920"/>
          </a:xfrm>
          <a:prstGeom prst="rect">
            <a:avLst/>
          </a:prstGeom>
          <a:noFill/>
        </p:spPr>
        <p:txBody>
          <a:bodyPr wrap="square" lIns="0" rIns="0" tIns="0" bIns="0" anchor="t">
            <a:spAutoFit/>
          </a:bodyPr>
          <a:lstStyle/>
          <a:p>
            <a:pPr algn="l"/>
            <a:r>
              <a:rPr sz="3000" b="1" i="0">
                <a:solidFill>
                  <a:srgbClr val="2F7D5B"/>
                </a:solidFill>
                <a:latin typeface="Calibri"/>
              </a:rPr>
              <a:t>61</a:t>
            </a:r>
          </a:p>
        </p:txBody>
      </p:sp>
      <p:sp>
        <p:nvSpPr>
          <p:cNvPr id="8" name="TextBox 7"/>
          <p:cNvSpPr txBox="1"/>
          <p:nvPr/>
        </p:nvSpPr>
        <p:spPr>
          <a:xfrm>
            <a:off x="3390823" y="2103120"/>
            <a:ext cx="2567863" cy="548640"/>
          </a:xfrm>
          <a:prstGeom prst="rect">
            <a:avLst/>
          </a:prstGeom>
          <a:noFill/>
        </p:spPr>
        <p:txBody>
          <a:bodyPr wrap="square" lIns="0" rIns="0" tIns="0" bIns="0" anchor="t">
            <a:spAutoFit/>
          </a:bodyPr>
          <a:lstStyle/>
          <a:p>
            <a:pPr algn="l"/>
            <a:r>
              <a:rPr sz="1200" b="0" i="0">
                <a:solidFill>
                  <a:srgbClr val="4E5B62"/>
                </a:solidFill>
                <a:latin typeface="Calibri"/>
              </a:rPr>
              <a:t>GFLOPs per 1024² tile — 25× fewer than U-Net</a:t>
            </a:r>
          </a:p>
        </p:txBody>
      </p:sp>
      <p:sp>
        <p:nvSpPr>
          <p:cNvPr id="9" name="TextBox 8"/>
          <p:cNvSpPr txBox="1"/>
          <p:nvPr/>
        </p:nvSpPr>
        <p:spPr>
          <a:xfrm>
            <a:off x="6233007" y="1572768"/>
            <a:ext cx="2567863" cy="502920"/>
          </a:xfrm>
          <a:prstGeom prst="rect">
            <a:avLst/>
          </a:prstGeom>
          <a:noFill/>
        </p:spPr>
        <p:txBody>
          <a:bodyPr wrap="square" lIns="0" rIns="0" tIns="0" bIns="0" anchor="t">
            <a:spAutoFit/>
          </a:bodyPr>
          <a:lstStyle/>
          <a:p>
            <a:pPr algn="l"/>
            <a:r>
              <a:rPr sz="3000" b="1" i="0">
                <a:solidFill>
                  <a:srgbClr val="2F7D5B"/>
                </a:solidFill>
                <a:latin typeface="Calibri"/>
              </a:rPr>
              <a:t>0.91 s</a:t>
            </a:r>
          </a:p>
        </p:txBody>
      </p:sp>
      <p:sp>
        <p:nvSpPr>
          <p:cNvPr id="10" name="TextBox 9"/>
          <p:cNvSpPr txBox="1"/>
          <p:nvPr/>
        </p:nvSpPr>
        <p:spPr>
          <a:xfrm>
            <a:off x="6233007" y="2103120"/>
            <a:ext cx="2567863" cy="548640"/>
          </a:xfrm>
          <a:prstGeom prst="rect">
            <a:avLst/>
          </a:prstGeom>
          <a:noFill/>
        </p:spPr>
        <p:txBody>
          <a:bodyPr wrap="square" lIns="0" rIns="0" tIns="0" bIns="0" anchor="t">
            <a:spAutoFit/>
          </a:bodyPr>
          <a:lstStyle/>
          <a:p>
            <a:pPr algn="l"/>
            <a:r>
              <a:rPr sz="1200" b="0" i="0">
                <a:solidFill>
                  <a:srgbClr val="4E5B62"/>
                </a:solidFill>
                <a:latin typeface="Calibri"/>
              </a:rPr>
              <a:t>per tile with ONNX Runtime on a laptop CPU</a:t>
            </a:r>
          </a:p>
        </p:txBody>
      </p:sp>
      <p:sp>
        <p:nvSpPr>
          <p:cNvPr id="11" name="TextBox 10"/>
          <p:cNvSpPr txBox="1"/>
          <p:nvPr/>
        </p:nvSpPr>
        <p:spPr>
          <a:xfrm>
            <a:off x="9075191" y="1572768"/>
            <a:ext cx="2567863" cy="502920"/>
          </a:xfrm>
          <a:prstGeom prst="rect">
            <a:avLst/>
          </a:prstGeom>
          <a:noFill/>
        </p:spPr>
        <p:txBody>
          <a:bodyPr wrap="square" lIns="0" rIns="0" tIns="0" bIns="0" anchor="t">
            <a:spAutoFit/>
          </a:bodyPr>
          <a:lstStyle/>
          <a:p>
            <a:pPr algn="l"/>
            <a:r>
              <a:rPr sz="3000" b="1" i="0">
                <a:solidFill>
                  <a:srgbClr val="2F7D5B"/>
                </a:solidFill>
                <a:latin typeface="Calibri"/>
              </a:rPr>
              <a:t>6.9 MB</a:t>
            </a:r>
          </a:p>
        </p:txBody>
      </p:sp>
      <p:sp>
        <p:nvSpPr>
          <p:cNvPr id="12" name="TextBox 11"/>
          <p:cNvSpPr txBox="1"/>
          <p:nvPr/>
        </p:nvSpPr>
        <p:spPr>
          <a:xfrm>
            <a:off x="9075191" y="2103120"/>
            <a:ext cx="2567863" cy="548640"/>
          </a:xfrm>
          <a:prstGeom prst="rect">
            <a:avLst/>
          </a:prstGeom>
          <a:noFill/>
        </p:spPr>
        <p:txBody>
          <a:bodyPr wrap="square" lIns="0" rIns="0" tIns="0" bIns="0" anchor="t">
            <a:spAutoFit/>
          </a:bodyPr>
          <a:lstStyle/>
          <a:p>
            <a:pPr algn="l"/>
            <a:r>
              <a:rPr sz="1200" b="0" i="0">
                <a:solidFill>
                  <a:srgbClr val="4E5B62"/>
                </a:solidFill>
                <a:latin typeface="Calibri"/>
              </a:rPr>
              <a:t>deployable ONNX model (graph + weights)</a:t>
            </a:r>
          </a:p>
        </p:txBody>
      </p:sp>
      <p:pic>
        <p:nvPicPr>
          <p:cNvPr id="13" name="Picture 12" descr="fig_efficiency.png"/>
          <p:cNvPicPr>
            <a:picLocks noChangeAspect="1"/>
          </p:cNvPicPr>
          <p:nvPr/>
        </p:nvPicPr>
        <p:blipFill>
          <a:blip r:embed="rId2"/>
          <a:stretch>
            <a:fillRect/>
          </a:stretch>
        </p:blipFill>
        <p:spPr>
          <a:xfrm>
            <a:off x="878137" y="2761488"/>
            <a:ext cx="10435419" cy="3429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73952"/>
            <a:ext cx="914400" cy="228600"/>
          </a:xfrm>
          <a:prstGeom prst="rect">
            <a:avLst/>
          </a:prstGeom>
          <a:noFill/>
        </p:spPr>
        <p:txBody>
          <a:bodyPr wrap="square" lIns="0" rIns="0" tIns="0" bIns="0" anchor="t">
            <a:spAutoFit/>
          </a:bodyPr>
          <a:lstStyle/>
          <a:p>
            <a:pPr algn="r"/>
            <a:r>
              <a:rPr sz="1000" b="0" i="0">
                <a:solidFill>
                  <a:srgbClr val="86919A"/>
                </a:solidFill>
                <a:latin typeface="Calibri"/>
              </a:rPr>
              <a:t>13</a:t>
            </a:r>
          </a:p>
        </p:txBody>
      </p:sp>
      <p:sp>
        <p:nvSpPr>
          <p:cNvPr id="3" name="TextBox 2"/>
          <p:cNvSpPr txBox="1"/>
          <p:nvPr/>
        </p:nvSpPr>
        <p:spPr>
          <a:xfrm>
            <a:off x="548640" y="384048"/>
            <a:ext cx="7315200" cy="274320"/>
          </a:xfrm>
          <a:prstGeom prst="rect">
            <a:avLst/>
          </a:prstGeom>
          <a:noFill/>
        </p:spPr>
        <p:txBody>
          <a:bodyPr wrap="square" lIns="0" rIns="0" tIns="0" bIns="0" anchor="t">
            <a:spAutoFit/>
          </a:bodyPr>
          <a:lstStyle/>
          <a:p>
            <a:pPr algn="l"/>
            <a:r>
              <a:rPr sz="1100" b="1" i="0" spc="120">
                <a:solidFill>
                  <a:srgbClr val="2F7D5B"/>
                </a:solidFill>
                <a:latin typeface="Calibri"/>
              </a:rPr>
              <a:t>12 · RESULTS: VALIDATION</a:t>
            </a:r>
          </a:p>
        </p:txBody>
      </p:sp>
      <p:sp>
        <p:nvSpPr>
          <p:cNvPr id="4" name="TextBox 3"/>
          <p:cNvSpPr txBox="1"/>
          <p:nvPr/>
        </p:nvSpPr>
        <p:spPr>
          <a:xfrm>
            <a:off x="548640" y="658368"/>
            <a:ext cx="11094415" cy="566928"/>
          </a:xfrm>
          <a:prstGeom prst="rect">
            <a:avLst/>
          </a:prstGeom>
          <a:noFill/>
        </p:spPr>
        <p:txBody>
          <a:bodyPr wrap="square" lIns="0" rIns="0" tIns="0" bIns="0" anchor="t">
            <a:spAutoFit/>
          </a:bodyPr>
          <a:lstStyle/>
          <a:p>
            <a:pPr algn="l"/>
            <a:r>
              <a:rPr sz="3000" b="1" i="0">
                <a:solidFill>
                  <a:srgbClr val="1F2A2E"/>
                </a:solidFill>
                <a:latin typeface="Calibri"/>
              </a:rPr>
              <a:t>Training-time validation, and what it missed</a:t>
            </a:r>
          </a:p>
        </p:txBody>
      </p:sp>
      <p:graphicFrame>
        <p:nvGraphicFramePr>
          <p:cNvPr id="5" name="Table 4"/>
          <p:cNvGraphicFramePr>
            <a:graphicFrameLocks noGrp="1"/>
          </p:cNvGraphicFramePr>
          <p:nvPr/>
        </p:nvGraphicFramePr>
        <p:xfrm>
          <a:off x="548640" y="1618488"/>
          <a:ext cx="6263640" cy="1920240"/>
        </p:xfrm>
        <a:graphic>
          <a:graphicData uri="http://schemas.openxmlformats.org/drawingml/2006/table">
            <a:tbl>
              <a:tblPr firstRow="0" bandRow="0">
                <a:tableStyleId>{2D5ABB26-0587-4C30-8999-92F81FD0307C}</a:tableStyleId>
              </a:tblPr>
              <a:tblGrid>
                <a:gridCol w="2103120"/>
                <a:gridCol w="640080"/>
                <a:gridCol w="1005840"/>
                <a:gridCol w="868680"/>
                <a:gridCol w="777240"/>
                <a:gridCol w="868680"/>
              </a:tblGrid>
              <a:tr h="384048">
                <a:tc>
                  <a:txBody>
                    <a:bodyPr wrap="square"/>
                    <a:lstStyle/>
                    <a:p>
                      <a:pPr algn="l"/>
                      <a:r>
                        <a:rPr sz="1200" b="1">
                          <a:solidFill>
                            <a:srgbClr val="4E5B62"/>
                          </a:solidFill>
                          <a:latin typeface="Calibri"/>
                        </a:rPr>
                        <a:t>Checkpoint</a:t>
                      </a:r>
                    </a:p>
                  </a:txBody>
                  <a:tcPr marL="73152" marR="73152" marT="27432" marB="27432" anchor="ctr">
                    <a:solidFill>
                      <a:srgbClr val="F1F4F3"/>
                    </a:solidFill>
                    <a:lnL w="0">
                      <a:noFill/>
                    </a:lnL>
                    <a:lnR w="0">
                      <a:noFill/>
                    </a:lnR>
                    <a:lnT w="0">
                      <a:noFill/>
                    </a:lnT>
                    <a:lnB w="9525">
                      <a:solidFill>
                        <a:srgbClr val="D5DCD9"/>
                      </a:solidFill>
                    </a:lnB>
                  </a:tcPr>
                </a:tc>
                <a:tc>
                  <a:txBody>
                    <a:bodyPr wrap="square"/>
                    <a:lstStyle/>
                    <a:p>
                      <a:pPr algn="r"/>
                      <a:r>
                        <a:rPr sz="1200" b="1">
                          <a:solidFill>
                            <a:srgbClr val="4E5B62"/>
                          </a:solidFill>
                          <a:latin typeface="Calibri"/>
                        </a:rPr>
                        <a:t>Epoch</a:t>
                      </a:r>
                    </a:p>
                  </a:txBody>
                  <a:tcPr marL="73152" marR="73152" marT="27432" marB="27432" anchor="ctr">
                    <a:solidFill>
                      <a:srgbClr val="F1F4F3"/>
                    </a:solidFill>
                    <a:lnL w="0">
                      <a:noFill/>
                    </a:lnL>
                    <a:lnR w="0">
                      <a:noFill/>
                    </a:lnR>
                    <a:lnT w="0">
                      <a:noFill/>
                    </a:lnT>
                    <a:lnB w="9525">
                      <a:solidFill>
                        <a:srgbClr val="D5DCD9"/>
                      </a:solidFill>
                    </a:lnB>
                  </a:tcPr>
                </a:tc>
                <a:tc>
                  <a:txBody>
                    <a:bodyPr wrap="square"/>
                    <a:lstStyle/>
                    <a:p>
                      <a:pPr algn="r"/>
                      <a:r>
                        <a:rPr sz="1200" b="1">
                          <a:solidFill>
                            <a:srgbClr val="4E5B62"/>
                          </a:solidFill>
                          <a:latin typeface="Calibri"/>
                        </a:rPr>
                        <a:t>Val IoU</a:t>
                      </a:r>
                    </a:p>
                  </a:txBody>
                  <a:tcPr marL="73152" marR="73152" marT="27432" marB="27432" anchor="ctr">
                    <a:solidFill>
                      <a:srgbClr val="F1F4F3"/>
                    </a:solidFill>
                    <a:lnL w="0">
                      <a:noFill/>
                    </a:lnL>
                    <a:lnR w="0">
                      <a:noFill/>
                    </a:lnR>
                    <a:lnT w="0">
                      <a:noFill/>
                    </a:lnT>
                    <a:lnB w="9525">
                      <a:solidFill>
                        <a:srgbClr val="D5DCD9"/>
                      </a:solidFill>
                    </a:lnB>
                  </a:tcPr>
                </a:tc>
                <a:tc>
                  <a:txBody>
                    <a:bodyPr wrap="square"/>
                    <a:lstStyle/>
                    <a:p>
                      <a:pPr algn="r"/>
                      <a:r>
                        <a:rPr sz="1200" b="1">
                          <a:solidFill>
                            <a:srgbClr val="4E5B62"/>
                          </a:solidFill>
                          <a:latin typeface="Calibri"/>
                        </a:rPr>
                        <a:t>Precision</a:t>
                      </a:r>
                    </a:p>
                  </a:txBody>
                  <a:tcPr marL="73152" marR="73152" marT="27432" marB="27432" anchor="ctr">
                    <a:solidFill>
                      <a:srgbClr val="F1F4F3"/>
                    </a:solidFill>
                    <a:lnL w="0">
                      <a:noFill/>
                    </a:lnL>
                    <a:lnR w="0">
                      <a:noFill/>
                    </a:lnR>
                    <a:lnT w="0">
                      <a:noFill/>
                    </a:lnT>
                    <a:lnB w="9525">
                      <a:solidFill>
                        <a:srgbClr val="D5DCD9"/>
                      </a:solidFill>
                    </a:lnB>
                  </a:tcPr>
                </a:tc>
                <a:tc>
                  <a:txBody>
                    <a:bodyPr wrap="square"/>
                    <a:lstStyle/>
                    <a:p>
                      <a:pPr algn="r"/>
                      <a:r>
                        <a:rPr sz="1200" b="1">
                          <a:solidFill>
                            <a:srgbClr val="4E5B62"/>
                          </a:solidFill>
                          <a:latin typeface="Calibri"/>
                        </a:rPr>
                        <a:t>Pred. road</a:t>
                      </a:r>
                    </a:p>
                  </a:txBody>
                  <a:tcPr marL="73152" marR="73152" marT="27432" marB="27432" anchor="ctr">
                    <a:solidFill>
                      <a:srgbClr val="F1F4F3"/>
                    </a:solidFill>
                    <a:lnL w="0">
                      <a:noFill/>
                    </a:lnL>
                    <a:lnR w="0">
                      <a:noFill/>
                    </a:lnR>
                    <a:lnT w="0">
                      <a:noFill/>
                    </a:lnT>
                    <a:lnB w="9525">
                      <a:solidFill>
                        <a:srgbClr val="D5DCD9"/>
                      </a:solidFill>
                    </a:lnB>
                  </a:tcPr>
                </a:tc>
                <a:tc>
                  <a:txBody>
                    <a:bodyPr wrap="square"/>
                    <a:lstStyle/>
                    <a:p>
                      <a:pPr algn="r"/>
                      <a:r>
                        <a:rPr sz="1200" b="1">
                          <a:solidFill>
                            <a:srgbClr val="4E5B62"/>
                          </a:solidFill>
                          <a:latin typeface="Calibri"/>
                        </a:rPr>
                        <a:t>clDice loss</a:t>
                      </a:r>
                    </a:p>
                  </a:txBody>
                  <a:tcPr marL="73152" marR="73152" marT="27432" marB="27432" anchor="ctr">
                    <a:solidFill>
                      <a:srgbClr val="F1F4F3"/>
                    </a:solidFill>
                    <a:lnL w="0">
                      <a:noFill/>
                    </a:lnL>
                    <a:lnR w="0">
                      <a:noFill/>
                    </a:lnR>
                    <a:lnT w="0">
                      <a:noFill/>
                    </a:lnT>
                    <a:lnB w="9525">
                      <a:solidFill>
                        <a:srgbClr val="D5DCD9"/>
                      </a:solidFill>
                    </a:lnB>
                  </a:tcPr>
                </a:tc>
              </a:tr>
              <a:tr h="384048">
                <a:tc>
                  <a:txBody>
                    <a:bodyPr wrap="square"/>
                    <a:lstStyle/>
                    <a:p>
                      <a:pPr algn="l"/>
                      <a:r>
                        <a:rPr sz="1200" b="1">
                          <a:solidFill>
                            <a:srgbClr val="1F2A2E"/>
                          </a:solidFill>
                          <a:latin typeface="Calibri"/>
                        </a:rPr>
                        <a:t>June baseline (no gates)</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00" b="0">
                          <a:solidFill>
                            <a:srgbClr val="1F2A2E"/>
                          </a:solidFill>
                          <a:latin typeface="Calibri"/>
                        </a:rPr>
                        <a:t>17</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00" b="0">
                          <a:solidFill>
                            <a:srgbClr val="1F2A2E"/>
                          </a:solidFill>
                          <a:latin typeface="Calibri"/>
                        </a:rPr>
                        <a:t>not logged</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00" b="0">
                          <a:solidFill>
                            <a:srgbClr val="1F2A2E"/>
                          </a:solidFill>
                          <a:latin typeface="Calibri"/>
                        </a:rPr>
                        <a:t>—</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00" b="0">
                          <a:solidFill>
                            <a:srgbClr val="1F2A2E"/>
                          </a:solidFill>
                          <a:latin typeface="Calibri"/>
                        </a:rPr>
                        <a:t>—</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00" b="0">
                          <a:solidFill>
                            <a:srgbClr val="1F2A2E"/>
                          </a:solidFill>
                          <a:latin typeface="Calibri"/>
                        </a:rPr>
                        <a:t>0.798</a:t>
                      </a:r>
                    </a:p>
                  </a:txBody>
                  <a:tcPr marL="73152" marR="73152" marT="27432" marB="27432" anchor="ctr">
                    <a:solidFill>
                      <a:srgbClr val="FFFFFF"/>
                    </a:solidFill>
                    <a:lnL w="0">
                      <a:noFill/>
                    </a:lnL>
                    <a:lnR w="0">
                      <a:noFill/>
                    </a:lnR>
                    <a:lnT w="0">
                      <a:noFill/>
                    </a:lnT>
                    <a:lnB w="9525">
                      <a:solidFill>
                        <a:srgbClr val="D5DCD9"/>
                      </a:solidFill>
                    </a:lnB>
                  </a:tcPr>
                </a:tc>
              </a:tr>
              <a:tr h="384048">
                <a:tc>
                  <a:txBody>
                    <a:bodyPr wrap="square"/>
                    <a:lstStyle/>
                    <a:p>
                      <a:pPr algn="l"/>
                      <a:r>
                        <a:rPr sz="1200" b="1">
                          <a:solidFill>
                            <a:srgbClr val="1F2A2E"/>
                          </a:solidFill>
                          <a:latin typeface="Calibri"/>
                        </a:rPr>
                        <a:t>v2 collapsed run</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00" b="0">
                          <a:solidFill>
                            <a:srgbClr val="1F2A2E"/>
                          </a:solidFill>
                          <a:latin typeface="Calibri"/>
                        </a:rPr>
                        <a:t>46</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00" b="0">
                          <a:solidFill>
                            <a:srgbClr val="1F2A2E"/>
                          </a:solidFill>
                          <a:latin typeface="Calibri"/>
                        </a:rPr>
                        <a:t>not logged</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00" b="0">
                          <a:solidFill>
                            <a:srgbClr val="1F2A2E"/>
                          </a:solidFill>
                          <a:latin typeface="Calibri"/>
                        </a:rPr>
                        <a:t>—</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00" b="0">
                          <a:solidFill>
                            <a:srgbClr val="1F2A2E"/>
                          </a:solidFill>
                          <a:latin typeface="Calibri"/>
                        </a:rPr>
                        <a:t>—</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00" b="0">
                          <a:solidFill>
                            <a:srgbClr val="1F2A2E"/>
                          </a:solidFill>
                          <a:latin typeface="Calibri"/>
                        </a:rPr>
                        <a:t>0.215</a:t>
                      </a:r>
                    </a:p>
                  </a:txBody>
                  <a:tcPr marL="73152" marR="73152" marT="27432" marB="27432" anchor="ctr">
                    <a:solidFill>
                      <a:srgbClr val="FFFFFF"/>
                    </a:solidFill>
                    <a:lnL w="0">
                      <a:noFill/>
                    </a:lnL>
                    <a:lnR w="0">
                      <a:noFill/>
                    </a:lnR>
                    <a:lnT w="0">
                      <a:noFill/>
                    </a:lnT>
                    <a:lnB w="9525">
                      <a:solidFill>
                        <a:srgbClr val="D5DCD9"/>
                      </a:solidFill>
                    </a:lnB>
                  </a:tcPr>
                </a:tc>
              </a:tr>
              <a:tr h="384048">
                <a:tc>
                  <a:txBody>
                    <a:bodyPr wrap="square"/>
                    <a:lstStyle/>
                    <a:p>
                      <a:pPr algn="l"/>
                      <a:r>
                        <a:rPr sz="1200" b="1">
                          <a:solidFill>
                            <a:srgbClr val="1F2A2E"/>
                          </a:solidFill>
                          <a:latin typeface="Calibri"/>
                        </a:rPr>
                        <a:t>v2 run 1</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00" b="0">
                          <a:solidFill>
                            <a:srgbClr val="1F2A2E"/>
                          </a:solidFill>
                          <a:latin typeface="Calibri"/>
                        </a:rPr>
                        <a:t>18</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00" b="0">
                          <a:solidFill>
                            <a:srgbClr val="1F2A2E"/>
                          </a:solidFill>
                          <a:latin typeface="Calibri"/>
                        </a:rPr>
                        <a:t>15.9%</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00" b="0">
                          <a:solidFill>
                            <a:srgbClr val="1F2A2E"/>
                          </a:solidFill>
                          <a:latin typeface="Calibri"/>
                        </a:rPr>
                        <a:t>50.3%</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00" b="0">
                          <a:solidFill>
                            <a:srgbClr val="1F2A2E"/>
                          </a:solidFill>
                          <a:latin typeface="Calibri"/>
                        </a:rPr>
                        <a:t>4.1%</a:t>
                      </a:r>
                    </a:p>
                  </a:txBody>
                  <a:tcPr marL="73152" marR="73152" marT="27432" marB="27432" anchor="ctr">
                    <a:solidFill>
                      <a:srgbClr val="FFFFFF"/>
                    </a:solidFill>
                    <a:lnL w="0">
                      <a:noFill/>
                    </a:lnL>
                    <a:lnR w="0">
                      <a:noFill/>
                    </a:lnR>
                    <a:lnT w="0">
                      <a:noFill/>
                    </a:lnT>
                    <a:lnB w="9525">
                      <a:solidFill>
                        <a:srgbClr val="D5DCD9"/>
                      </a:solidFill>
                    </a:lnB>
                  </a:tcPr>
                </a:tc>
                <a:tc>
                  <a:txBody>
                    <a:bodyPr wrap="square"/>
                    <a:lstStyle/>
                    <a:p>
                      <a:pPr algn="r"/>
                      <a:r>
                        <a:rPr sz="1200" b="0">
                          <a:solidFill>
                            <a:srgbClr val="1F2A2E"/>
                          </a:solidFill>
                          <a:latin typeface="Calibri"/>
                        </a:rPr>
                        <a:t>0.715</a:t>
                      </a:r>
                    </a:p>
                  </a:txBody>
                  <a:tcPr marL="73152" marR="73152" marT="27432" marB="27432" anchor="ctr">
                    <a:solidFill>
                      <a:srgbClr val="FFFFFF"/>
                    </a:solidFill>
                    <a:lnL w="0">
                      <a:noFill/>
                    </a:lnL>
                    <a:lnR w="0">
                      <a:noFill/>
                    </a:lnR>
                    <a:lnT w="0">
                      <a:noFill/>
                    </a:lnT>
                    <a:lnB w="9525">
                      <a:solidFill>
                        <a:srgbClr val="D5DCD9"/>
                      </a:solidFill>
                    </a:lnB>
                  </a:tcPr>
                </a:tc>
              </a:tr>
              <a:tr h="384048">
                <a:tc>
                  <a:txBody>
                    <a:bodyPr wrap="square"/>
                    <a:lstStyle/>
                    <a:p>
                      <a:pPr algn="l"/>
                      <a:r>
                        <a:rPr sz="1200" b="1">
                          <a:solidFill>
                            <a:srgbClr val="1F2A2E"/>
                          </a:solidFill>
                          <a:latin typeface="Calibri"/>
                        </a:rPr>
                        <a:t>v2 final</a:t>
                      </a:r>
                    </a:p>
                  </a:txBody>
                  <a:tcPr marL="73152" marR="73152" marT="27432" marB="27432" anchor="ctr">
                    <a:solidFill>
                      <a:srgbClr val="EAF2EE"/>
                    </a:solidFill>
                    <a:lnL w="0">
                      <a:noFill/>
                    </a:lnL>
                    <a:lnR w="0">
                      <a:noFill/>
                    </a:lnR>
                    <a:lnT w="0">
                      <a:noFill/>
                    </a:lnT>
                    <a:lnB w="9525">
                      <a:solidFill>
                        <a:srgbClr val="D5DCD9"/>
                      </a:solidFill>
                    </a:lnB>
                  </a:tcPr>
                </a:tc>
                <a:tc>
                  <a:txBody>
                    <a:bodyPr wrap="square"/>
                    <a:lstStyle/>
                    <a:p>
                      <a:pPr algn="r"/>
                      <a:r>
                        <a:rPr sz="1200" b="1">
                          <a:solidFill>
                            <a:srgbClr val="1F2A2E"/>
                          </a:solidFill>
                          <a:latin typeface="Calibri"/>
                        </a:rPr>
                        <a:t>53</a:t>
                      </a:r>
                    </a:p>
                  </a:txBody>
                  <a:tcPr marL="73152" marR="73152" marT="27432" marB="27432" anchor="ctr">
                    <a:solidFill>
                      <a:srgbClr val="EAF2EE"/>
                    </a:solidFill>
                    <a:lnL w="0">
                      <a:noFill/>
                    </a:lnL>
                    <a:lnR w="0">
                      <a:noFill/>
                    </a:lnR>
                    <a:lnT w="0">
                      <a:noFill/>
                    </a:lnT>
                    <a:lnB w="9525">
                      <a:solidFill>
                        <a:srgbClr val="D5DCD9"/>
                      </a:solidFill>
                    </a:lnB>
                  </a:tcPr>
                </a:tc>
                <a:tc>
                  <a:txBody>
                    <a:bodyPr wrap="square"/>
                    <a:lstStyle/>
                    <a:p>
                      <a:pPr algn="r"/>
                      <a:r>
                        <a:rPr sz="1200" b="1">
                          <a:solidFill>
                            <a:srgbClr val="1F2A2E"/>
                          </a:solidFill>
                          <a:latin typeface="Calibri"/>
                        </a:rPr>
                        <a:t>16.8%</a:t>
                      </a:r>
                    </a:p>
                  </a:txBody>
                  <a:tcPr marL="73152" marR="73152" marT="27432" marB="27432" anchor="ctr">
                    <a:solidFill>
                      <a:srgbClr val="EAF2EE"/>
                    </a:solidFill>
                    <a:lnL w="0">
                      <a:noFill/>
                    </a:lnL>
                    <a:lnR w="0">
                      <a:noFill/>
                    </a:lnR>
                    <a:lnT w="0">
                      <a:noFill/>
                    </a:lnT>
                    <a:lnB w="9525">
                      <a:solidFill>
                        <a:srgbClr val="D5DCD9"/>
                      </a:solidFill>
                    </a:lnB>
                  </a:tcPr>
                </a:tc>
                <a:tc>
                  <a:txBody>
                    <a:bodyPr wrap="square"/>
                    <a:lstStyle/>
                    <a:p>
                      <a:pPr algn="r"/>
                      <a:r>
                        <a:rPr sz="1200" b="1">
                          <a:solidFill>
                            <a:srgbClr val="1F2A2E"/>
                          </a:solidFill>
                          <a:latin typeface="Calibri"/>
                        </a:rPr>
                        <a:t>49.4%</a:t>
                      </a:r>
                    </a:p>
                  </a:txBody>
                  <a:tcPr marL="73152" marR="73152" marT="27432" marB="27432" anchor="ctr">
                    <a:solidFill>
                      <a:srgbClr val="EAF2EE"/>
                    </a:solidFill>
                    <a:lnL w="0">
                      <a:noFill/>
                    </a:lnL>
                    <a:lnR w="0">
                      <a:noFill/>
                    </a:lnR>
                    <a:lnT w="0">
                      <a:noFill/>
                    </a:lnT>
                    <a:lnB w="9525">
                      <a:solidFill>
                        <a:srgbClr val="D5DCD9"/>
                      </a:solidFill>
                    </a:lnB>
                  </a:tcPr>
                </a:tc>
                <a:tc>
                  <a:txBody>
                    <a:bodyPr wrap="square"/>
                    <a:lstStyle/>
                    <a:p>
                      <a:pPr algn="r"/>
                      <a:r>
                        <a:rPr sz="1200" b="1">
                          <a:solidFill>
                            <a:srgbClr val="1F2A2E"/>
                          </a:solidFill>
                          <a:latin typeface="Calibri"/>
                        </a:rPr>
                        <a:t>4.9%</a:t>
                      </a:r>
                    </a:p>
                  </a:txBody>
                  <a:tcPr marL="73152" marR="73152" marT="27432" marB="27432" anchor="ctr">
                    <a:solidFill>
                      <a:srgbClr val="EAF2EE"/>
                    </a:solidFill>
                    <a:lnL w="0">
                      <a:noFill/>
                    </a:lnL>
                    <a:lnR w="0">
                      <a:noFill/>
                    </a:lnR>
                    <a:lnT w="0">
                      <a:noFill/>
                    </a:lnT>
                    <a:lnB w="9525">
                      <a:solidFill>
                        <a:srgbClr val="D5DCD9"/>
                      </a:solidFill>
                    </a:lnB>
                  </a:tcPr>
                </a:tc>
                <a:tc>
                  <a:txBody>
                    <a:bodyPr wrap="square"/>
                    <a:lstStyle/>
                    <a:p>
                      <a:pPr algn="r"/>
                      <a:r>
                        <a:rPr sz="1200" b="1">
                          <a:solidFill>
                            <a:srgbClr val="1F2A2E"/>
                          </a:solidFill>
                          <a:latin typeface="Calibri"/>
                        </a:rPr>
                        <a:t>0.701</a:t>
                      </a:r>
                    </a:p>
                  </a:txBody>
                  <a:tcPr marL="73152" marR="73152" marT="27432" marB="27432" anchor="ctr">
                    <a:solidFill>
                      <a:srgbClr val="EAF2EE"/>
                    </a:solidFill>
                    <a:lnL w="0">
                      <a:noFill/>
                    </a:lnL>
                    <a:lnR w="0">
                      <a:noFill/>
                    </a:lnR>
                    <a:lnT w="0">
                      <a:noFill/>
                    </a:lnT>
                    <a:lnB w="9525">
                      <a:solidFill>
                        <a:srgbClr val="D5DCD9"/>
                      </a:solidFill>
                    </a:lnB>
                  </a:tcPr>
                </a:tc>
              </a:tr>
            </a:tbl>
          </a:graphicData>
        </a:graphic>
      </p:graphicFrame>
      <p:sp>
        <p:nvSpPr>
          <p:cNvPr id="6" name="TextBox 5"/>
          <p:cNvSpPr txBox="1"/>
          <p:nvPr/>
        </p:nvSpPr>
        <p:spPr>
          <a:xfrm>
            <a:off x="548640" y="3630168"/>
            <a:ext cx="5989320" cy="274320"/>
          </a:xfrm>
          <a:prstGeom prst="rect">
            <a:avLst/>
          </a:prstGeom>
          <a:noFill/>
        </p:spPr>
        <p:txBody>
          <a:bodyPr wrap="square" lIns="0" rIns="0" tIns="0" bIns="0" anchor="t">
            <a:spAutoFit/>
          </a:bodyPr>
          <a:lstStyle/>
          <a:p>
            <a:pPr algn="l"/>
            <a:r>
              <a:rPr sz="1100" b="0" i="0">
                <a:solidFill>
                  <a:srgbClr val="86919A"/>
                </a:solidFill>
                <a:latin typeface="Calibri"/>
              </a:rPr>
              <a:t>Values stored in each checkpoint, measured during training on the 622 validation tiles resized to 256².</a:t>
            </a:r>
          </a:p>
        </p:txBody>
      </p:sp>
      <p:sp>
        <p:nvSpPr>
          <p:cNvPr id="7" name="TextBox 6"/>
          <p:cNvSpPr txBox="1"/>
          <p:nvPr/>
        </p:nvSpPr>
        <p:spPr>
          <a:xfrm>
            <a:off x="548640" y="4087368"/>
            <a:ext cx="5989320" cy="320040"/>
          </a:xfrm>
          <a:prstGeom prst="rect">
            <a:avLst/>
          </a:prstGeom>
          <a:noFill/>
        </p:spPr>
        <p:txBody>
          <a:bodyPr wrap="square" lIns="0" rIns="0" tIns="0" bIns="0" anchor="t">
            <a:spAutoFit/>
          </a:bodyPr>
          <a:lstStyle/>
          <a:p>
            <a:pPr algn="l"/>
            <a:r>
              <a:rPr sz="1500" b="1" i="0">
                <a:solidFill>
                  <a:srgbClr val="1F2A2E"/>
                </a:solidFill>
                <a:latin typeface="Calibri"/>
              </a:rPr>
              <a:t>Finding: the validation protocol under-measured the model</a:t>
            </a:r>
          </a:p>
        </p:txBody>
      </p:sp>
      <p:sp>
        <p:nvSpPr>
          <p:cNvPr id="8" name="TextBox 7"/>
          <p:cNvSpPr txBox="1"/>
          <p:nvPr/>
        </p:nvSpPr>
        <p:spPr>
          <a:xfrm>
            <a:off x="548640" y="4498848"/>
            <a:ext cx="5989320" cy="1737360"/>
          </a:xfrm>
          <a:prstGeom prst="rect">
            <a:avLst/>
          </a:prstGeom>
          <a:noFill/>
        </p:spPr>
        <p:txBody>
          <a:bodyPr wrap="square" lIns="0" rIns="0" tIns="0" bIns="0">
            <a:spAutoFit/>
          </a:bodyPr>
          <a:lstStyle/>
          <a:p>
            <a:pPr marL="219456" indent="-219456">
              <a:spcBef>
                <a:spcPts val="600"/>
              </a:spcBef>
              <a:buClr>
                <a:srgbClr val="2F7D5B"/>
              </a:buClr>
              <a:buFont typeface="Arial"/>
              <a:buChar char="•"/>
            </a:pPr>
            <a:r>
              <a:rPr sz="1350" b="0">
                <a:solidFill>
                  <a:srgbClr val="1F2A2E"/>
                </a:solidFill>
                <a:latin typeface="Calibri"/>
              </a:rPr>
              <a:t>Validation shrank each 1024² tile to 256², making roads 4× thinner than anything seen in training.</a:t>
            </a:r>
          </a:p>
          <a:p>
            <a:pPr marL="219456" indent="-219456">
              <a:spcBef>
                <a:spcPts val="600"/>
              </a:spcBef>
              <a:buClr>
                <a:srgbClr val="2F7D5B"/>
              </a:buClr>
              <a:buFont typeface="Arial"/>
              <a:buChar char="•"/>
            </a:pPr>
            <a:r>
              <a:rPr sz="1350" b="0">
                <a:solidFill>
                  <a:srgbClr val="1F2A2E"/>
                </a:solidFill>
                <a:latin typeface="Calibri"/>
              </a:rPr>
              <a:t>On 2 of 3 sample tiles the model then finds no road at all, while at native resolution it does (right).</a:t>
            </a:r>
          </a:p>
          <a:p>
            <a:pPr marL="219456" indent="-219456">
              <a:spcBef>
                <a:spcPts val="600"/>
              </a:spcBef>
              <a:buClr>
                <a:srgbClr val="2F7D5B"/>
              </a:buClr>
              <a:buFont typeface="Arial"/>
              <a:buChar char="•"/>
            </a:pPr>
            <a:r>
              <a:rPr sz="1350" b="0">
                <a:solidFill>
                  <a:srgbClr val="1F2A2E"/>
                </a:solidFill>
                <a:latin typeface="Calibri"/>
              </a:rPr>
              <a:t>The logged IoU of 16.8% therefore understates the deployed model; the evaluation notebook measures it at native resolution on the same held-out tiles.</a:t>
            </a:r>
          </a:p>
        </p:txBody>
      </p:sp>
      <p:pic>
        <p:nvPicPr>
          <p:cNvPr id="9" name="Picture 8" descr="fig_resolution.png"/>
          <p:cNvPicPr>
            <a:picLocks noChangeAspect="1"/>
          </p:cNvPicPr>
          <p:nvPr/>
        </p:nvPicPr>
        <p:blipFill>
          <a:blip r:embed="rId2"/>
          <a:stretch>
            <a:fillRect/>
          </a:stretch>
        </p:blipFill>
        <p:spPr>
          <a:xfrm>
            <a:off x="6903720" y="1481328"/>
            <a:ext cx="4727904" cy="48920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73952"/>
            <a:ext cx="914400" cy="228600"/>
          </a:xfrm>
          <a:prstGeom prst="rect">
            <a:avLst/>
          </a:prstGeom>
          <a:noFill/>
        </p:spPr>
        <p:txBody>
          <a:bodyPr wrap="square" lIns="0" rIns="0" tIns="0" bIns="0" anchor="t">
            <a:spAutoFit/>
          </a:bodyPr>
          <a:lstStyle/>
          <a:p>
            <a:pPr algn="r"/>
            <a:r>
              <a:rPr sz="1000" b="0" i="0">
                <a:solidFill>
                  <a:srgbClr val="86919A"/>
                </a:solidFill>
                <a:latin typeface="Calibri"/>
              </a:rPr>
              <a:t>14</a:t>
            </a:r>
          </a:p>
        </p:txBody>
      </p:sp>
      <p:sp>
        <p:nvSpPr>
          <p:cNvPr id="3" name="TextBox 2"/>
          <p:cNvSpPr txBox="1"/>
          <p:nvPr/>
        </p:nvSpPr>
        <p:spPr>
          <a:xfrm>
            <a:off x="548640" y="384048"/>
            <a:ext cx="7315200" cy="274320"/>
          </a:xfrm>
          <a:prstGeom prst="rect">
            <a:avLst/>
          </a:prstGeom>
          <a:noFill/>
        </p:spPr>
        <p:txBody>
          <a:bodyPr wrap="square" lIns="0" rIns="0" tIns="0" bIns="0" anchor="t">
            <a:spAutoFit/>
          </a:bodyPr>
          <a:lstStyle/>
          <a:p>
            <a:pPr algn="l"/>
            <a:r>
              <a:rPr sz="1100" b="1" i="0" spc="120">
                <a:solidFill>
                  <a:srgbClr val="2F7D5B"/>
                </a:solidFill>
                <a:latin typeface="Calibri"/>
              </a:rPr>
              <a:t>13 · RESULTS: OUTPUTS</a:t>
            </a:r>
          </a:p>
        </p:txBody>
      </p:sp>
      <p:sp>
        <p:nvSpPr>
          <p:cNvPr id="4" name="TextBox 3"/>
          <p:cNvSpPr txBox="1"/>
          <p:nvPr/>
        </p:nvSpPr>
        <p:spPr>
          <a:xfrm>
            <a:off x="548640" y="658368"/>
            <a:ext cx="11094415" cy="566928"/>
          </a:xfrm>
          <a:prstGeom prst="rect">
            <a:avLst/>
          </a:prstGeom>
          <a:noFill/>
        </p:spPr>
        <p:txBody>
          <a:bodyPr wrap="square" lIns="0" rIns="0" tIns="0" bIns="0" anchor="t">
            <a:spAutoFit/>
          </a:bodyPr>
          <a:lstStyle/>
          <a:p>
            <a:pPr algn="l"/>
            <a:r>
              <a:rPr sz="3000" b="1" i="0">
                <a:solidFill>
                  <a:srgbClr val="1F2A2E"/>
                </a:solidFill>
                <a:latin typeface="Calibri"/>
              </a:rPr>
              <a:t>Deployed pipeline on real tiles</a:t>
            </a:r>
          </a:p>
        </p:txBody>
      </p:sp>
      <p:pic>
        <p:nvPicPr>
          <p:cNvPr id="5" name="Picture 4" descr="overlay_100034.jpg"/>
          <p:cNvPicPr>
            <a:picLocks noChangeAspect="1"/>
          </p:cNvPicPr>
          <p:nvPr/>
        </p:nvPicPr>
        <p:blipFill>
          <a:blip r:embed="rId2"/>
          <a:stretch>
            <a:fillRect/>
          </a:stretch>
        </p:blipFill>
        <p:spPr>
          <a:xfrm>
            <a:off x="548640" y="1709928"/>
            <a:ext cx="2602153" cy="2602153"/>
          </a:xfrm>
          <a:prstGeom prst="rect">
            <a:avLst/>
          </a:prstGeom>
          <a:ln w="9525">
            <a:solidFill>
              <a:srgbClr val="D5DCD9"/>
            </a:solidFill>
          </a:ln>
        </p:spPr>
      </p:pic>
      <p:sp>
        <p:nvSpPr>
          <p:cNvPr id="6" name="TextBox 5"/>
          <p:cNvSpPr txBox="1"/>
          <p:nvPr/>
        </p:nvSpPr>
        <p:spPr>
          <a:xfrm>
            <a:off x="548640" y="4385233"/>
            <a:ext cx="2602153" cy="274320"/>
          </a:xfrm>
          <a:prstGeom prst="rect">
            <a:avLst/>
          </a:prstGeom>
          <a:noFill/>
        </p:spPr>
        <p:txBody>
          <a:bodyPr wrap="square" lIns="0" rIns="0" tIns="0" bIns="0" anchor="t">
            <a:spAutoFit/>
          </a:bodyPr>
          <a:lstStyle/>
          <a:p>
            <a:pPr algn="l"/>
            <a:r>
              <a:rPr sz="1100" b="0" i="0">
                <a:solidFill>
                  <a:srgbClr val="4E5B62"/>
                </a:solidFill>
                <a:latin typeface="Calibri"/>
              </a:rPr>
              <a:t>Tile 100034  ·  1.8% road</a:t>
            </a:r>
          </a:p>
        </p:txBody>
      </p:sp>
      <p:pic>
        <p:nvPicPr>
          <p:cNvPr id="7" name="Picture 6" descr="overlay_117991.jpg"/>
          <p:cNvPicPr>
            <a:picLocks noChangeAspect="1"/>
          </p:cNvPicPr>
          <p:nvPr/>
        </p:nvPicPr>
        <p:blipFill>
          <a:blip r:embed="rId3"/>
          <a:stretch>
            <a:fillRect/>
          </a:stretch>
        </p:blipFill>
        <p:spPr>
          <a:xfrm>
            <a:off x="3379393" y="1709928"/>
            <a:ext cx="2602153" cy="2602153"/>
          </a:xfrm>
          <a:prstGeom prst="rect">
            <a:avLst/>
          </a:prstGeom>
          <a:ln w="9525">
            <a:solidFill>
              <a:srgbClr val="D5DCD9"/>
            </a:solidFill>
          </a:ln>
        </p:spPr>
      </p:pic>
      <p:sp>
        <p:nvSpPr>
          <p:cNvPr id="8" name="TextBox 7"/>
          <p:cNvSpPr txBox="1"/>
          <p:nvPr/>
        </p:nvSpPr>
        <p:spPr>
          <a:xfrm>
            <a:off x="3379393" y="4385233"/>
            <a:ext cx="2602153" cy="274320"/>
          </a:xfrm>
          <a:prstGeom prst="rect">
            <a:avLst/>
          </a:prstGeom>
          <a:noFill/>
        </p:spPr>
        <p:txBody>
          <a:bodyPr wrap="square" lIns="0" rIns="0" tIns="0" bIns="0" anchor="t">
            <a:spAutoFit/>
          </a:bodyPr>
          <a:lstStyle/>
          <a:p>
            <a:pPr algn="l"/>
            <a:r>
              <a:rPr sz="1100" b="0" i="0">
                <a:solidFill>
                  <a:srgbClr val="4E5B62"/>
                </a:solidFill>
                <a:latin typeface="Calibri"/>
              </a:rPr>
              <a:t>Tile 117991  ·  2.7% road</a:t>
            </a:r>
          </a:p>
        </p:txBody>
      </p:sp>
      <p:pic>
        <p:nvPicPr>
          <p:cNvPr id="9" name="Picture 8" descr="overlay_115714.jpg"/>
          <p:cNvPicPr>
            <a:picLocks noChangeAspect="1"/>
          </p:cNvPicPr>
          <p:nvPr/>
        </p:nvPicPr>
        <p:blipFill>
          <a:blip r:embed="rId4"/>
          <a:stretch>
            <a:fillRect/>
          </a:stretch>
        </p:blipFill>
        <p:spPr>
          <a:xfrm>
            <a:off x="6210147" y="1709928"/>
            <a:ext cx="2602153" cy="2602153"/>
          </a:xfrm>
          <a:prstGeom prst="rect">
            <a:avLst/>
          </a:prstGeom>
          <a:ln w="9525">
            <a:solidFill>
              <a:srgbClr val="D5DCD9"/>
            </a:solidFill>
          </a:ln>
        </p:spPr>
      </p:pic>
      <p:sp>
        <p:nvSpPr>
          <p:cNvPr id="10" name="TextBox 9"/>
          <p:cNvSpPr txBox="1"/>
          <p:nvPr/>
        </p:nvSpPr>
        <p:spPr>
          <a:xfrm>
            <a:off x="6210147" y="4385233"/>
            <a:ext cx="2602153" cy="274320"/>
          </a:xfrm>
          <a:prstGeom prst="rect">
            <a:avLst/>
          </a:prstGeom>
          <a:noFill/>
        </p:spPr>
        <p:txBody>
          <a:bodyPr wrap="square" lIns="0" rIns="0" tIns="0" bIns="0" anchor="t">
            <a:spAutoFit/>
          </a:bodyPr>
          <a:lstStyle/>
          <a:p>
            <a:pPr algn="l"/>
            <a:r>
              <a:rPr sz="1100" b="0" i="0">
                <a:solidFill>
                  <a:srgbClr val="4E5B62"/>
                </a:solidFill>
                <a:latin typeface="Calibri"/>
              </a:rPr>
              <a:t>Tile 115714  ·  1.4% road</a:t>
            </a:r>
          </a:p>
        </p:txBody>
      </p:sp>
      <p:pic>
        <p:nvPicPr>
          <p:cNvPr id="11" name="Picture 10" descr="overlay_102408.jpg"/>
          <p:cNvPicPr>
            <a:picLocks noChangeAspect="1"/>
          </p:cNvPicPr>
          <p:nvPr/>
        </p:nvPicPr>
        <p:blipFill>
          <a:blip r:embed="rId5"/>
          <a:stretch>
            <a:fillRect/>
          </a:stretch>
        </p:blipFill>
        <p:spPr>
          <a:xfrm>
            <a:off x="9040901" y="1709928"/>
            <a:ext cx="2602153" cy="2602153"/>
          </a:xfrm>
          <a:prstGeom prst="rect">
            <a:avLst/>
          </a:prstGeom>
          <a:ln w="9525">
            <a:solidFill>
              <a:srgbClr val="D5DCD9"/>
            </a:solidFill>
          </a:ln>
        </p:spPr>
      </p:pic>
      <p:sp>
        <p:nvSpPr>
          <p:cNvPr id="12" name="TextBox 11"/>
          <p:cNvSpPr txBox="1"/>
          <p:nvPr/>
        </p:nvSpPr>
        <p:spPr>
          <a:xfrm>
            <a:off x="9040901" y="4385233"/>
            <a:ext cx="2602153" cy="274320"/>
          </a:xfrm>
          <a:prstGeom prst="rect">
            <a:avLst/>
          </a:prstGeom>
          <a:noFill/>
        </p:spPr>
        <p:txBody>
          <a:bodyPr wrap="square" lIns="0" rIns="0" tIns="0" bIns="0" anchor="t">
            <a:spAutoFit/>
          </a:bodyPr>
          <a:lstStyle/>
          <a:p>
            <a:pPr algn="l"/>
            <a:r>
              <a:rPr sz="1100" b="0" i="0">
                <a:solidFill>
                  <a:srgbClr val="4E5B62"/>
                </a:solidFill>
                <a:latin typeface="Calibri"/>
              </a:rPr>
              <a:t>Tile 102408  ·  11.4% road</a:t>
            </a:r>
          </a:p>
        </p:txBody>
      </p:sp>
      <p:sp>
        <p:nvSpPr>
          <p:cNvPr id="13" name="Rounded Rectangle 12"/>
          <p:cNvSpPr/>
          <p:nvPr/>
        </p:nvSpPr>
        <p:spPr>
          <a:xfrm>
            <a:off x="548640" y="4769281"/>
            <a:ext cx="201168" cy="201168"/>
          </a:xfrm>
          <a:prstGeom prst="roundRect">
            <a:avLst>
              <a:gd name="adj" fmla="val 2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4741849"/>
            <a:ext cx="2011680" cy="274320"/>
          </a:xfrm>
          <a:prstGeom prst="rect">
            <a:avLst/>
          </a:prstGeom>
          <a:noFill/>
        </p:spPr>
        <p:txBody>
          <a:bodyPr wrap="square" lIns="0" rIns="0" tIns="0" bIns="0" anchor="t">
            <a:spAutoFit/>
          </a:bodyPr>
          <a:lstStyle/>
          <a:p>
            <a:pPr algn="l"/>
            <a:r>
              <a:rPr sz="1200" b="0" i="0">
                <a:solidFill>
                  <a:srgbClr val="4E5B62"/>
                </a:solidFill>
                <a:latin typeface="Calibri"/>
              </a:rPr>
              <a:t>predicted road</a:t>
            </a:r>
          </a:p>
        </p:txBody>
      </p:sp>
      <p:sp>
        <p:nvSpPr>
          <p:cNvPr id="15" name="Rounded Rectangle 14"/>
          <p:cNvSpPr/>
          <p:nvPr/>
        </p:nvSpPr>
        <p:spPr>
          <a:xfrm>
            <a:off x="2743200" y="4769281"/>
            <a:ext cx="201168" cy="201168"/>
          </a:xfrm>
          <a:prstGeom prst="roundRect">
            <a:avLst>
              <a:gd name="adj" fmla="val 2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035808" y="4741849"/>
            <a:ext cx="2011680" cy="274320"/>
          </a:xfrm>
          <a:prstGeom prst="rect">
            <a:avLst/>
          </a:prstGeom>
          <a:noFill/>
        </p:spPr>
        <p:txBody>
          <a:bodyPr wrap="square" lIns="0" rIns="0" tIns="0" bIns="0" anchor="t">
            <a:spAutoFit/>
          </a:bodyPr>
          <a:lstStyle/>
          <a:p>
            <a:pPr algn="l"/>
            <a:r>
              <a:rPr sz="1200" b="0" i="0">
                <a:solidFill>
                  <a:srgbClr val="4E5B62"/>
                </a:solidFill>
                <a:latin typeface="Calibri"/>
              </a:rPr>
              <a:t>added by canopy-gap bridging</a:t>
            </a:r>
          </a:p>
        </p:txBody>
      </p:sp>
      <p:sp>
        <p:nvSpPr>
          <p:cNvPr id="17" name="TextBox 16"/>
          <p:cNvSpPr txBox="1"/>
          <p:nvPr/>
        </p:nvSpPr>
        <p:spPr>
          <a:xfrm>
            <a:off x="5669279" y="4741849"/>
            <a:ext cx="5973775" cy="274320"/>
          </a:xfrm>
          <a:prstGeom prst="rect">
            <a:avLst/>
          </a:prstGeom>
          <a:noFill/>
        </p:spPr>
        <p:txBody>
          <a:bodyPr wrap="square" lIns="0" rIns="0" tIns="0" bIns="0" anchor="t">
            <a:spAutoFit/>
          </a:bodyPr>
          <a:lstStyle/>
          <a:p>
            <a:pPr algn="l"/>
            <a:r>
              <a:rPr sz="1200" b="0" i="0">
                <a:solidFill>
                  <a:srgbClr val="86919A"/>
                </a:solidFill>
                <a:latin typeface="Calibri"/>
              </a:rPr>
              <a:t>Sample tiles without ground truth — accuracy is measured on the held-out split.</a:t>
            </a:r>
          </a:p>
        </p:txBody>
      </p:sp>
      <p:sp>
        <p:nvSpPr>
          <p:cNvPr id="18" name="Rounded Rectangle 17"/>
          <p:cNvSpPr/>
          <p:nvPr/>
        </p:nvSpPr>
        <p:spPr>
          <a:xfrm>
            <a:off x="548640" y="5180761"/>
            <a:ext cx="3515258" cy="1097280"/>
          </a:xfrm>
          <a:prstGeom prst="roundRect">
            <a:avLst>
              <a:gd name="adj" fmla="val 8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9808" y="5317921"/>
            <a:ext cx="3112922" cy="274320"/>
          </a:xfrm>
          <a:prstGeom prst="rect">
            <a:avLst/>
          </a:prstGeom>
          <a:noFill/>
        </p:spPr>
        <p:txBody>
          <a:bodyPr wrap="square" lIns="0" rIns="0" tIns="0" bIns="0" anchor="t">
            <a:spAutoFit/>
          </a:bodyPr>
          <a:lstStyle/>
          <a:p>
            <a:pPr algn="l"/>
            <a:r>
              <a:rPr sz="1350" b="1" i="0">
                <a:solidFill>
                  <a:srgbClr val="1F2A2E"/>
                </a:solidFill>
                <a:latin typeface="Calibri"/>
              </a:rPr>
              <a:t>Continuous where the road is visible</a:t>
            </a:r>
          </a:p>
        </p:txBody>
      </p:sp>
      <p:sp>
        <p:nvSpPr>
          <p:cNvPr id="20" name="TextBox 19"/>
          <p:cNvSpPr txBox="1"/>
          <p:nvPr/>
        </p:nvSpPr>
        <p:spPr>
          <a:xfrm>
            <a:off x="749808" y="5637961"/>
            <a:ext cx="3112922" cy="685800"/>
          </a:xfrm>
          <a:prstGeom prst="rect">
            <a:avLst/>
          </a:prstGeom>
          <a:noFill/>
        </p:spPr>
        <p:txBody>
          <a:bodyPr wrap="square" lIns="0" rIns="0" tIns="0" bIns="0" anchor="t">
            <a:spAutoFit/>
          </a:bodyPr>
          <a:lstStyle/>
          <a:p>
            <a:pPr algn="l"/>
            <a:r>
              <a:rPr sz="1200" b="0" i="0">
                <a:solidFill>
                  <a:srgbClr val="4E5B62"/>
                </a:solidFill>
                <a:latin typeface="Calibri"/>
              </a:rPr>
              <a:t>The forest road (100034) and the farm road (115714) are traced end to end in a single piece.</a:t>
            </a:r>
          </a:p>
        </p:txBody>
      </p:sp>
      <p:sp>
        <p:nvSpPr>
          <p:cNvPr id="21" name="Rounded Rectangle 20"/>
          <p:cNvSpPr/>
          <p:nvPr/>
        </p:nvSpPr>
        <p:spPr>
          <a:xfrm>
            <a:off x="4338218" y="5180761"/>
            <a:ext cx="3515258" cy="1097280"/>
          </a:xfrm>
          <a:prstGeom prst="roundRect">
            <a:avLst>
              <a:gd name="adj" fmla="val 8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539386" y="5317921"/>
            <a:ext cx="3112922" cy="274320"/>
          </a:xfrm>
          <a:prstGeom prst="rect">
            <a:avLst/>
          </a:prstGeom>
          <a:noFill/>
        </p:spPr>
        <p:txBody>
          <a:bodyPr wrap="square" lIns="0" rIns="0" tIns="0" bIns="0" anchor="t">
            <a:spAutoFit/>
          </a:bodyPr>
          <a:lstStyle/>
          <a:p>
            <a:pPr algn="l"/>
            <a:r>
              <a:rPr sz="1350" b="1" i="0">
                <a:solidFill>
                  <a:srgbClr val="1F2A2E"/>
                </a:solidFill>
                <a:latin typeface="Calibri"/>
              </a:rPr>
              <a:t>Field boundaries still fool it</a:t>
            </a:r>
          </a:p>
        </p:txBody>
      </p:sp>
      <p:sp>
        <p:nvSpPr>
          <p:cNvPr id="23" name="TextBox 22"/>
          <p:cNvSpPr txBox="1"/>
          <p:nvPr/>
        </p:nvSpPr>
        <p:spPr>
          <a:xfrm>
            <a:off x="4539386" y="5637961"/>
            <a:ext cx="3112922" cy="685800"/>
          </a:xfrm>
          <a:prstGeom prst="rect">
            <a:avLst/>
          </a:prstGeom>
          <a:noFill/>
        </p:spPr>
        <p:txBody>
          <a:bodyPr wrap="square" lIns="0" rIns="0" tIns="0" bIns="0" anchor="t">
            <a:spAutoFit/>
          </a:bodyPr>
          <a:lstStyle/>
          <a:p>
            <a:pPr algn="l"/>
            <a:r>
              <a:rPr sz="1200" b="0" i="0">
                <a:solidFill>
                  <a:srgbClr val="4E5B62"/>
                </a:solidFill>
                <a:latin typeface="Calibri"/>
              </a:rPr>
              <a:t>On 115714 a field boundary is bridged into a short spur off the main road — a likely false positive.</a:t>
            </a:r>
          </a:p>
        </p:txBody>
      </p:sp>
      <p:sp>
        <p:nvSpPr>
          <p:cNvPr id="24" name="Rounded Rectangle 23"/>
          <p:cNvSpPr/>
          <p:nvPr/>
        </p:nvSpPr>
        <p:spPr>
          <a:xfrm>
            <a:off x="8127796" y="5180761"/>
            <a:ext cx="3515258" cy="1097280"/>
          </a:xfrm>
          <a:prstGeom prst="roundRect">
            <a:avLst>
              <a:gd name="adj" fmla="val 8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28964" y="5317921"/>
            <a:ext cx="3112922" cy="274320"/>
          </a:xfrm>
          <a:prstGeom prst="rect">
            <a:avLst/>
          </a:prstGeom>
          <a:noFill/>
        </p:spPr>
        <p:txBody>
          <a:bodyPr wrap="square" lIns="0" rIns="0" tIns="0" bIns="0" anchor="t">
            <a:spAutoFit/>
          </a:bodyPr>
          <a:lstStyle/>
          <a:p>
            <a:pPr algn="l"/>
            <a:r>
              <a:rPr sz="1350" b="1" i="0">
                <a:solidFill>
                  <a:srgbClr val="1F2A2E"/>
                </a:solidFill>
                <a:latin typeface="Calibri"/>
              </a:rPr>
              <a:t>Dense areas need ground truth</a:t>
            </a:r>
          </a:p>
        </p:txBody>
      </p:sp>
      <p:sp>
        <p:nvSpPr>
          <p:cNvPr id="26" name="TextBox 25"/>
          <p:cNvSpPr txBox="1"/>
          <p:nvPr/>
        </p:nvSpPr>
        <p:spPr>
          <a:xfrm>
            <a:off x="8328964" y="5637961"/>
            <a:ext cx="3112922" cy="685800"/>
          </a:xfrm>
          <a:prstGeom prst="rect">
            <a:avLst/>
          </a:prstGeom>
          <a:noFill/>
        </p:spPr>
        <p:txBody>
          <a:bodyPr wrap="square" lIns="0" rIns="0" tIns="0" bIns="0" anchor="t">
            <a:spAutoFit/>
          </a:bodyPr>
          <a:lstStyle/>
          <a:p>
            <a:pPr algn="l"/>
            <a:r>
              <a:rPr sz="1200" b="0" i="0">
                <a:solidFill>
                  <a:srgbClr val="4E5B62"/>
                </a:solidFill>
                <a:latin typeface="Calibri"/>
              </a:rPr>
              <a:t>In the settlement (102408) the street grid is plausible, but some bridges may join paths between buildings.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73952"/>
            <a:ext cx="914400" cy="228600"/>
          </a:xfrm>
          <a:prstGeom prst="rect">
            <a:avLst/>
          </a:prstGeom>
          <a:noFill/>
        </p:spPr>
        <p:txBody>
          <a:bodyPr wrap="square" lIns="0" rIns="0" tIns="0" bIns="0" anchor="t">
            <a:spAutoFit/>
          </a:bodyPr>
          <a:lstStyle/>
          <a:p>
            <a:pPr algn="r"/>
            <a:r>
              <a:rPr sz="1000" b="0" i="0">
                <a:solidFill>
                  <a:srgbClr val="86919A"/>
                </a:solidFill>
                <a:latin typeface="Calibri"/>
              </a:rPr>
              <a:t>15</a:t>
            </a:r>
          </a:p>
        </p:txBody>
      </p:sp>
      <p:sp>
        <p:nvSpPr>
          <p:cNvPr id="3" name="TextBox 2"/>
          <p:cNvSpPr txBox="1"/>
          <p:nvPr/>
        </p:nvSpPr>
        <p:spPr>
          <a:xfrm>
            <a:off x="548640" y="384048"/>
            <a:ext cx="7315200" cy="274320"/>
          </a:xfrm>
          <a:prstGeom prst="rect">
            <a:avLst/>
          </a:prstGeom>
          <a:noFill/>
        </p:spPr>
        <p:txBody>
          <a:bodyPr wrap="square" lIns="0" rIns="0" tIns="0" bIns="0" anchor="t">
            <a:spAutoFit/>
          </a:bodyPr>
          <a:lstStyle/>
          <a:p>
            <a:pPr algn="l"/>
            <a:r>
              <a:rPr sz="1100" b="1" i="0" spc="120">
                <a:solidFill>
                  <a:srgbClr val="2F7D5B"/>
                </a:solidFill>
                <a:latin typeface="Calibri"/>
              </a:rPr>
              <a:t>14 · DEPLOYMENT</a:t>
            </a:r>
          </a:p>
        </p:txBody>
      </p:sp>
      <p:sp>
        <p:nvSpPr>
          <p:cNvPr id="4" name="TextBox 3"/>
          <p:cNvSpPr txBox="1"/>
          <p:nvPr/>
        </p:nvSpPr>
        <p:spPr>
          <a:xfrm>
            <a:off x="548640" y="658368"/>
            <a:ext cx="11094415" cy="566928"/>
          </a:xfrm>
          <a:prstGeom prst="rect">
            <a:avLst/>
          </a:prstGeom>
          <a:noFill/>
        </p:spPr>
        <p:txBody>
          <a:bodyPr wrap="square" lIns="0" rIns="0" tIns="0" bIns="0" anchor="t">
            <a:spAutoFit/>
          </a:bodyPr>
          <a:lstStyle/>
          <a:p>
            <a:pPr algn="l"/>
            <a:r>
              <a:rPr sz="3000" b="1" i="0">
                <a:solidFill>
                  <a:srgbClr val="1F2A2E"/>
                </a:solidFill>
                <a:latin typeface="Calibri"/>
              </a:rPr>
              <a:t>Runs without PyTorch on field hardware</a:t>
            </a:r>
          </a:p>
        </p:txBody>
      </p:sp>
      <p:sp>
        <p:nvSpPr>
          <p:cNvPr id="5" name="Rounded Rectangle 4"/>
          <p:cNvSpPr/>
          <p:nvPr/>
        </p:nvSpPr>
        <p:spPr>
          <a:xfrm>
            <a:off x="548640" y="1847088"/>
            <a:ext cx="1911644" cy="118872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F2A2E"/>
                </a:solidFill>
                <a:latin typeface="Calibri"/>
              </a:rPr>
              <a:t>PyTorch
checkpoint</a:t>
            </a:r>
          </a:p>
        </p:txBody>
      </p:sp>
      <p:cxnSp>
        <p:nvCxnSpPr>
          <p:cNvPr id="6" name="Connector 5"/>
          <p:cNvCxnSpPr/>
          <p:nvPr/>
        </p:nvCxnSpPr>
        <p:spPr>
          <a:xfrm>
            <a:off x="2506004" y="2441448"/>
            <a:ext cx="292608"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44332" y="1847088"/>
            <a:ext cx="1911644" cy="118872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F2A2E"/>
                </a:solidFill>
                <a:latin typeface="Calibri"/>
              </a:rPr>
              <a:t>ONNX export
sigmoid in graph,
dynamic H × W</a:t>
            </a:r>
          </a:p>
        </p:txBody>
      </p:sp>
      <p:cxnSp>
        <p:nvCxnSpPr>
          <p:cNvPr id="8" name="Connector 7"/>
          <p:cNvCxnSpPr/>
          <p:nvPr/>
        </p:nvCxnSpPr>
        <p:spPr>
          <a:xfrm>
            <a:off x="4801697" y="2441448"/>
            <a:ext cx="292608"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140025" y="1847088"/>
            <a:ext cx="1911644" cy="118872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F2A2E"/>
                </a:solidFill>
                <a:latin typeface="Calibri"/>
              </a:rPr>
              <a:t>Parity check
vs PyTorch</a:t>
            </a:r>
          </a:p>
        </p:txBody>
      </p:sp>
      <p:cxnSp>
        <p:nvCxnSpPr>
          <p:cNvPr id="10" name="Connector 9"/>
          <p:cNvCxnSpPr/>
          <p:nvPr/>
        </p:nvCxnSpPr>
        <p:spPr>
          <a:xfrm>
            <a:off x="7097389" y="2441448"/>
            <a:ext cx="292608"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435717" y="1847088"/>
            <a:ext cx="1911644" cy="1188720"/>
          </a:xfrm>
          <a:prstGeom prst="roundRect">
            <a:avLst>
              <a:gd name="adj" fmla="val 12000"/>
            </a:avLst>
          </a:prstGeom>
          <a:solidFill>
            <a:srgbClr val="E4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F2A2E"/>
                </a:solidFill>
                <a:latin typeface="Calibri"/>
              </a:rPr>
              <a:t>ONNX Runtime
+ OpenCV</a:t>
            </a:r>
          </a:p>
        </p:txBody>
      </p:sp>
      <p:cxnSp>
        <p:nvCxnSpPr>
          <p:cNvPr id="12" name="Connector 11"/>
          <p:cNvCxnSpPr/>
          <p:nvPr/>
        </p:nvCxnSpPr>
        <p:spPr>
          <a:xfrm>
            <a:off x="9393082" y="2441448"/>
            <a:ext cx="292608" cy="0"/>
          </a:xfrm>
          <a:prstGeom prst="line">
            <a:avLst/>
          </a:prstGeom>
          <a:ln w="15875">
            <a:solidFill>
              <a:srgbClr val="8691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731410" y="1847088"/>
            <a:ext cx="1911644" cy="1188720"/>
          </a:xfrm>
          <a:prstGeom prst="roundRect">
            <a:avLst>
              <a:gd name="adj" fmla="val 12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F2A2E"/>
                </a:solidFill>
                <a:latin typeface="Calibri"/>
              </a:rPr>
              <a:t>Connected
road mask</a:t>
            </a:r>
          </a:p>
        </p:txBody>
      </p:sp>
      <p:sp>
        <p:nvSpPr>
          <p:cNvPr id="14" name="TextBox 13"/>
          <p:cNvSpPr txBox="1"/>
          <p:nvPr/>
        </p:nvSpPr>
        <p:spPr>
          <a:xfrm>
            <a:off x="548640" y="3493008"/>
            <a:ext cx="2567863" cy="502920"/>
          </a:xfrm>
          <a:prstGeom prst="rect">
            <a:avLst/>
          </a:prstGeom>
          <a:noFill/>
        </p:spPr>
        <p:txBody>
          <a:bodyPr wrap="square" lIns="0" rIns="0" tIns="0" bIns="0" anchor="t">
            <a:spAutoFit/>
          </a:bodyPr>
          <a:lstStyle/>
          <a:p>
            <a:pPr algn="l"/>
            <a:r>
              <a:rPr sz="2800" b="1" i="0">
                <a:solidFill>
                  <a:srgbClr val="2F7D5B"/>
                </a:solidFill>
                <a:latin typeface="Calibri"/>
              </a:rPr>
              <a:t>6.9 MB</a:t>
            </a:r>
          </a:p>
        </p:txBody>
      </p:sp>
      <p:sp>
        <p:nvSpPr>
          <p:cNvPr id="15" name="TextBox 14"/>
          <p:cNvSpPr txBox="1"/>
          <p:nvPr/>
        </p:nvSpPr>
        <p:spPr>
          <a:xfrm>
            <a:off x="548640" y="4023360"/>
            <a:ext cx="2567863" cy="548640"/>
          </a:xfrm>
          <a:prstGeom prst="rect">
            <a:avLst/>
          </a:prstGeom>
          <a:noFill/>
        </p:spPr>
        <p:txBody>
          <a:bodyPr wrap="square" lIns="0" rIns="0" tIns="0" bIns="0" anchor="t">
            <a:spAutoFit/>
          </a:bodyPr>
          <a:lstStyle/>
          <a:p>
            <a:pPr algn="l"/>
            <a:r>
              <a:rPr sz="1200" b="0" i="0">
                <a:solidFill>
                  <a:srgbClr val="4E5B62"/>
                </a:solidFill>
                <a:latin typeface="Calibri"/>
              </a:rPr>
              <a:t>model on disk</a:t>
            </a:r>
          </a:p>
        </p:txBody>
      </p:sp>
      <p:sp>
        <p:nvSpPr>
          <p:cNvPr id="16" name="TextBox 15"/>
          <p:cNvSpPr txBox="1"/>
          <p:nvPr/>
        </p:nvSpPr>
        <p:spPr>
          <a:xfrm>
            <a:off x="3390823" y="3493008"/>
            <a:ext cx="2567863" cy="502920"/>
          </a:xfrm>
          <a:prstGeom prst="rect">
            <a:avLst/>
          </a:prstGeom>
          <a:noFill/>
        </p:spPr>
        <p:txBody>
          <a:bodyPr wrap="square" lIns="0" rIns="0" tIns="0" bIns="0" anchor="t">
            <a:spAutoFit/>
          </a:bodyPr>
          <a:lstStyle/>
          <a:p>
            <a:pPr algn="l"/>
            <a:r>
              <a:rPr sz="2800" b="1" i="0">
                <a:solidFill>
                  <a:srgbClr val="2F7D5B"/>
                </a:solidFill>
                <a:latin typeface="Calibri"/>
              </a:rPr>
              <a:t>0.91 s</a:t>
            </a:r>
          </a:p>
        </p:txBody>
      </p:sp>
      <p:sp>
        <p:nvSpPr>
          <p:cNvPr id="17" name="TextBox 16"/>
          <p:cNvSpPr txBox="1"/>
          <p:nvPr/>
        </p:nvSpPr>
        <p:spPr>
          <a:xfrm>
            <a:off x="3390823" y="4023360"/>
            <a:ext cx="2567863" cy="548640"/>
          </a:xfrm>
          <a:prstGeom prst="rect">
            <a:avLst/>
          </a:prstGeom>
          <a:noFill/>
        </p:spPr>
        <p:txBody>
          <a:bodyPr wrap="square" lIns="0" rIns="0" tIns="0" bIns="0" anchor="t">
            <a:spAutoFit/>
          </a:bodyPr>
          <a:lstStyle/>
          <a:p>
            <a:pPr algn="l"/>
            <a:r>
              <a:rPr sz="1200" b="0" i="0">
                <a:solidFill>
                  <a:srgbClr val="4E5B62"/>
                </a:solidFill>
                <a:latin typeface="Calibri"/>
              </a:rPr>
              <a:t>per 1024² tile, Intel i5-1035G4</a:t>
            </a:r>
          </a:p>
        </p:txBody>
      </p:sp>
      <p:sp>
        <p:nvSpPr>
          <p:cNvPr id="18" name="TextBox 17"/>
          <p:cNvSpPr txBox="1"/>
          <p:nvPr/>
        </p:nvSpPr>
        <p:spPr>
          <a:xfrm>
            <a:off x="6233007" y="3493008"/>
            <a:ext cx="2567863" cy="502920"/>
          </a:xfrm>
          <a:prstGeom prst="rect">
            <a:avLst/>
          </a:prstGeom>
          <a:noFill/>
        </p:spPr>
        <p:txBody>
          <a:bodyPr wrap="square" lIns="0" rIns="0" tIns="0" bIns="0" anchor="t">
            <a:spAutoFit/>
          </a:bodyPr>
          <a:lstStyle/>
          <a:p>
            <a:pPr algn="l"/>
            <a:r>
              <a:rPr sz="2800" b="1" i="0">
                <a:solidFill>
                  <a:srgbClr val="2F7D5B"/>
                </a:solidFill>
                <a:latin typeface="Calibri"/>
              </a:rPr>
              <a:t>&lt; 10⁻⁶</a:t>
            </a:r>
          </a:p>
        </p:txBody>
      </p:sp>
      <p:sp>
        <p:nvSpPr>
          <p:cNvPr id="19" name="TextBox 18"/>
          <p:cNvSpPr txBox="1"/>
          <p:nvPr/>
        </p:nvSpPr>
        <p:spPr>
          <a:xfrm>
            <a:off x="6233007" y="4023360"/>
            <a:ext cx="2567863" cy="548640"/>
          </a:xfrm>
          <a:prstGeom prst="rect">
            <a:avLst/>
          </a:prstGeom>
          <a:noFill/>
        </p:spPr>
        <p:txBody>
          <a:bodyPr wrap="square" lIns="0" rIns="0" tIns="0" bIns="0" anchor="t">
            <a:spAutoFit/>
          </a:bodyPr>
          <a:lstStyle/>
          <a:p>
            <a:pPr algn="l"/>
            <a:r>
              <a:rPr sz="1200" b="0" i="0">
                <a:solidFill>
                  <a:srgbClr val="4E5B62"/>
                </a:solidFill>
                <a:latin typeface="Calibri"/>
              </a:rPr>
              <a:t>max |difference| vs PyTorch output</a:t>
            </a:r>
          </a:p>
        </p:txBody>
      </p:sp>
      <p:sp>
        <p:nvSpPr>
          <p:cNvPr id="20" name="TextBox 19"/>
          <p:cNvSpPr txBox="1"/>
          <p:nvPr/>
        </p:nvSpPr>
        <p:spPr>
          <a:xfrm>
            <a:off x="9075191" y="3493008"/>
            <a:ext cx="2567863" cy="502920"/>
          </a:xfrm>
          <a:prstGeom prst="rect">
            <a:avLst/>
          </a:prstGeom>
          <a:noFill/>
        </p:spPr>
        <p:txBody>
          <a:bodyPr wrap="square" lIns="0" rIns="0" tIns="0" bIns="0" anchor="t">
            <a:spAutoFit/>
          </a:bodyPr>
          <a:lstStyle/>
          <a:p>
            <a:pPr algn="l"/>
            <a:r>
              <a:rPr sz="2800" b="1" i="0">
                <a:solidFill>
                  <a:srgbClr val="2F7D5B"/>
                </a:solidFill>
                <a:latin typeface="Calibri"/>
              </a:rPr>
              <a:t>5</a:t>
            </a:r>
          </a:p>
        </p:txBody>
      </p:sp>
      <p:sp>
        <p:nvSpPr>
          <p:cNvPr id="21" name="TextBox 20"/>
          <p:cNvSpPr txBox="1"/>
          <p:nvPr/>
        </p:nvSpPr>
        <p:spPr>
          <a:xfrm>
            <a:off x="9075191" y="4023360"/>
            <a:ext cx="2567863" cy="548640"/>
          </a:xfrm>
          <a:prstGeom prst="rect">
            <a:avLst/>
          </a:prstGeom>
          <a:noFill/>
        </p:spPr>
        <p:txBody>
          <a:bodyPr wrap="square" lIns="0" rIns="0" tIns="0" bIns="0" anchor="t">
            <a:spAutoFit/>
          </a:bodyPr>
          <a:lstStyle/>
          <a:p>
            <a:pPr algn="l"/>
            <a:r>
              <a:rPr sz="1200" b="0" i="0">
                <a:solidFill>
                  <a:srgbClr val="4E5B62"/>
                </a:solidFill>
                <a:latin typeface="Calibri"/>
              </a:rPr>
              <a:t>Python packages on the device</a:t>
            </a:r>
          </a:p>
        </p:txBody>
      </p:sp>
      <p:sp>
        <p:nvSpPr>
          <p:cNvPr id="22" name="TextBox 21"/>
          <p:cNvSpPr txBox="1"/>
          <p:nvPr/>
        </p:nvSpPr>
        <p:spPr>
          <a:xfrm>
            <a:off x="548640" y="4818888"/>
            <a:ext cx="11094415" cy="1463040"/>
          </a:xfrm>
          <a:prstGeom prst="rect">
            <a:avLst/>
          </a:prstGeom>
          <a:noFill/>
        </p:spPr>
        <p:txBody>
          <a:bodyPr wrap="square" lIns="0" rIns="0" tIns="0" bIns="0">
            <a:spAutoFit/>
          </a:bodyPr>
          <a:lstStyle/>
          <a:p>
            <a:pPr marL="219456" indent="-219456">
              <a:spcBef>
                <a:spcPts val="700"/>
              </a:spcBef>
              <a:buClr>
                <a:srgbClr val="2F7D5B"/>
              </a:buClr>
              <a:buFont typeface="Arial"/>
              <a:buChar char="•"/>
            </a:pPr>
            <a:r>
              <a:rPr sz="1400" b="0">
                <a:solidFill>
                  <a:srgbClr val="1F2A2E"/>
                </a:solidFill>
                <a:latin typeface="Calibri"/>
              </a:rPr>
              <a:t>Picks the best available execution provider: CUDA / TensorRT (Jetson), CoreML (Apple), NNAPI (Android), or CPU.</a:t>
            </a:r>
          </a:p>
          <a:p>
            <a:pPr marL="219456" indent="-219456">
              <a:spcBef>
                <a:spcPts val="700"/>
              </a:spcBef>
              <a:buClr>
                <a:srgbClr val="2F7D5B"/>
              </a:buClr>
              <a:buFont typeface="Arial"/>
              <a:buChar char="•"/>
            </a:pPr>
            <a:r>
              <a:rPr sz="1400" b="0">
                <a:solidFill>
                  <a:srgbClr val="1F2A2E"/>
                </a:solidFill>
                <a:latin typeface="Calibri"/>
              </a:rPr>
              <a:t>Same hysteresis and gap-bridging post-processing as the PyTorch path; four-flip TTA is optional (about 4× the time).</a:t>
            </a:r>
          </a:p>
          <a:p>
            <a:pPr marL="219456" indent="-219456">
              <a:spcBef>
                <a:spcPts val="700"/>
              </a:spcBef>
              <a:buClr>
                <a:srgbClr val="2F7D5B"/>
              </a:buClr>
              <a:buFont typeface="Arial"/>
              <a:buChar char="•"/>
            </a:pPr>
            <a:r>
              <a:rPr sz="1400" b="0">
                <a:solidFill>
                  <a:srgbClr val="1F2A2E"/>
                </a:solidFill>
                <a:latin typeface="Calibri"/>
              </a:rPr>
              <a:t>A Streamlit app wraps the ONNX model for interactive demonstrations.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73952"/>
            <a:ext cx="914400" cy="228600"/>
          </a:xfrm>
          <a:prstGeom prst="rect">
            <a:avLst/>
          </a:prstGeom>
          <a:noFill/>
        </p:spPr>
        <p:txBody>
          <a:bodyPr wrap="square" lIns="0" rIns="0" tIns="0" bIns="0" anchor="t">
            <a:spAutoFit/>
          </a:bodyPr>
          <a:lstStyle/>
          <a:p>
            <a:pPr algn="r"/>
            <a:r>
              <a:rPr sz="1000" b="0" i="0">
                <a:solidFill>
                  <a:srgbClr val="86919A"/>
                </a:solidFill>
                <a:latin typeface="Calibri"/>
              </a:rPr>
              <a:t>16</a:t>
            </a:r>
          </a:p>
        </p:txBody>
      </p:sp>
      <p:sp>
        <p:nvSpPr>
          <p:cNvPr id="3" name="TextBox 2"/>
          <p:cNvSpPr txBox="1"/>
          <p:nvPr/>
        </p:nvSpPr>
        <p:spPr>
          <a:xfrm>
            <a:off x="548640" y="384048"/>
            <a:ext cx="7315200" cy="274320"/>
          </a:xfrm>
          <a:prstGeom prst="rect">
            <a:avLst/>
          </a:prstGeom>
          <a:noFill/>
        </p:spPr>
        <p:txBody>
          <a:bodyPr wrap="square" lIns="0" rIns="0" tIns="0" bIns="0" anchor="t">
            <a:spAutoFit/>
          </a:bodyPr>
          <a:lstStyle/>
          <a:p>
            <a:pPr algn="l"/>
            <a:r>
              <a:rPr sz="1100" b="1" i="0" spc="120">
                <a:solidFill>
                  <a:srgbClr val="2F7D5B"/>
                </a:solidFill>
                <a:latin typeface="Calibri"/>
              </a:rPr>
              <a:t>16 · CONCLUSION</a:t>
            </a:r>
          </a:p>
        </p:txBody>
      </p:sp>
      <p:sp>
        <p:nvSpPr>
          <p:cNvPr id="4" name="TextBox 3"/>
          <p:cNvSpPr txBox="1"/>
          <p:nvPr/>
        </p:nvSpPr>
        <p:spPr>
          <a:xfrm>
            <a:off x="548640" y="658368"/>
            <a:ext cx="11094415" cy="566928"/>
          </a:xfrm>
          <a:prstGeom prst="rect">
            <a:avLst/>
          </a:prstGeom>
          <a:noFill/>
        </p:spPr>
        <p:txBody>
          <a:bodyPr wrap="square" lIns="0" rIns="0" tIns="0" bIns="0" anchor="t">
            <a:spAutoFit/>
          </a:bodyPr>
          <a:lstStyle/>
          <a:p>
            <a:pPr algn="l"/>
            <a:r>
              <a:rPr sz="3000" b="1" i="0">
                <a:solidFill>
                  <a:srgbClr val="1F2A2E"/>
                </a:solidFill>
                <a:latin typeface="Calibri"/>
              </a:rPr>
              <a:t>What we built, what we learned, what’s next</a:t>
            </a:r>
          </a:p>
        </p:txBody>
      </p:sp>
      <p:sp>
        <p:nvSpPr>
          <p:cNvPr id="5" name="Rounded Rectangle 4"/>
          <p:cNvSpPr/>
          <p:nvPr/>
        </p:nvSpPr>
        <p:spPr>
          <a:xfrm>
            <a:off x="548640" y="1618488"/>
            <a:ext cx="5410047" cy="4206240"/>
          </a:xfrm>
          <a:prstGeom prst="roundRect">
            <a:avLst>
              <a:gd name="adj" fmla="val 4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892807"/>
            <a:ext cx="4769967" cy="365760"/>
          </a:xfrm>
          <a:prstGeom prst="rect">
            <a:avLst/>
          </a:prstGeom>
          <a:noFill/>
        </p:spPr>
        <p:txBody>
          <a:bodyPr wrap="square" lIns="0" rIns="0" tIns="0" bIns="0" anchor="t">
            <a:spAutoFit/>
          </a:bodyPr>
          <a:lstStyle/>
          <a:p>
            <a:pPr algn="l"/>
            <a:r>
              <a:rPr sz="1800" b="1" i="0">
                <a:solidFill>
                  <a:srgbClr val="2F7D5B"/>
                </a:solidFill>
                <a:latin typeface="Calibri"/>
              </a:rPr>
              <a:t>Outcomes</a:t>
            </a:r>
          </a:p>
        </p:txBody>
      </p:sp>
      <p:sp>
        <p:nvSpPr>
          <p:cNvPr id="7" name="TextBox 6"/>
          <p:cNvSpPr txBox="1"/>
          <p:nvPr/>
        </p:nvSpPr>
        <p:spPr>
          <a:xfrm>
            <a:off x="868680" y="2441448"/>
            <a:ext cx="4769967" cy="3657600"/>
          </a:xfrm>
          <a:prstGeom prst="rect">
            <a:avLst/>
          </a:prstGeom>
          <a:noFill/>
        </p:spPr>
        <p:txBody>
          <a:bodyPr wrap="square" lIns="0" rIns="0" tIns="0" bIns="0">
            <a:spAutoFit/>
          </a:bodyPr>
          <a:lstStyle/>
          <a:p>
            <a:pPr marL="219456" indent="-219456">
              <a:spcBef>
                <a:spcPts val="1000"/>
              </a:spcBef>
              <a:buClr>
                <a:srgbClr val="2F7D5B"/>
              </a:buClr>
              <a:buFont typeface="Arial"/>
              <a:buChar char="•"/>
            </a:pPr>
            <a:r>
              <a:rPr sz="1450" b="0">
                <a:solidFill>
                  <a:srgbClr val="1F2A2E"/>
                </a:solidFill>
                <a:latin typeface="Calibri"/>
              </a:rPr>
              <a:t>A 1.6 M-parameter road extractor that runs in 0.9 s per tile on a laptop CPU via ONNX.</a:t>
            </a:r>
          </a:p>
          <a:p>
            <a:pPr marL="219456" indent="-219456">
              <a:spcBef>
                <a:spcPts val="1000"/>
              </a:spcBef>
              <a:buClr>
                <a:srgbClr val="2F7D5B"/>
              </a:buClr>
              <a:buFont typeface="Arial"/>
              <a:buChar char="•"/>
            </a:pPr>
            <a:r>
              <a:rPr sz="1450" b="0">
                <a:solidFill>
                  <a:srgbClr val="1F2A2E"/>
                </a:solidFill>
                <a:latin typeface="Calibri"/>
              </a:rPr>
              <a:t>Diagnosed and fixed a training collapse caused by class weighting plus a gameable selection metric.</a:t>
            </a:r>
          </a:p>
          <a:p>
            <a:pPr marL="219456" indent="-219456">
              <a:spcBef>
                <a:spcPts val="1000"/>
              </a:spcBef>
              <a:buClr>
                <a:srgbClr val="2F7D5B"/>
              </a:buClr>
              <a:buFont typeface="Arial"/>
              <a:buChar char="•"/>
            </a:pPr>
            <a:r>
              <a:rPr sz="1450" b="0">
                <a:solidFill>
                  <a:srgbClr val="1F2A2E"/>
                </a:solidFill>
                <a:latin typeface="Calibri"/>
              </a:rPr>
              <a:t>Gap bridging reconnects fragmented predictions (e.g. 9 → 3 pieces on a sample tile); its effect under canopy is measured against ground truth.</a:t>
            </a:r>
          </a:p>
          <a:p>
            <a:pPr marL="219456" indent="-219456">
              <a:spcBef>
                <a:spcPts val="1000"/>
              </a:spcBef>
              <a:buClr>
                <a:srgbClr val="2F7D5B"/>
              </a:buClr>
              <a:buFont typeface="Arial"/>
              <a:buChar char="•"/>
            </a:pPr>
            <a:r>
              <a:rPr sz="1450" b="0">
                <a:solidFill>
                  <a:srgbClr val="1F2A2E"/>
                </a:solidFill>
                <a:latin typeface="Calibri"/>
              </a:rPr>
              <a:t>Found and fixed three pipeline bugs: validation scale mismatch, a silently disabled augmentation, and bridging along tile borders.</a:t>
            </a:r>
          </a:p>
        </p:txBody>
      </p:sp>
      <p:sp>
        <p:nvSpPr>
          <p:cNvPr id="8" name="Rounded Rectangle 7"/>
          <p:cNvSpPr/>
          <p:nvPr/>
        </p:nvSpPr>
        <p:spPr>
          <a:xfrm>
            <a:off x="6233007" y="1618488"/>
            <a:ext cx="5410047" cy="4206240"/>
          </a:xfrm>
          <a:prstGeom prst="roundRect">
            <a:avLst>
              <a:gd name="adj" fmla="val 4000"/>
            </a:avLst>
          </a:prstGeom>
          <a:solidFill>
            <a:srgbClr val="F1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53047" y="1892807"/>
            <a:ext cx="4769967" cy="365760"/>
          </a:xfrm>
          <a:prstGeom prst="rect">
            <a:avLst/>
          </a:prstGeom>
          <a:noFill/>
        </p:spPr>
        <p:txBody>
          <a:bodyPr wrap="square" lIns="0" rIns="0" tIns="0" bIns="0" anchor="t">
            <a:spAutoFit/>
          </a:bodyPr>
          <a:lstStyle/>
          <a:p>
            <a:pPr algn="l"/>
            <a:r>
              <a:rPr sz="1800" b="1" i="0">
                <a:solidFill>
                  <a:srgbClr val="2F7D5B"/>
                </a:solidFill>
                <a:latin typeface="Calibri"/>
              </a:rPr>
              <a:t>Limitations &amp; next steps</a:t>
            </a:r>
          </a:p>
        </p:txBody>
      </p:sp>
      <p:sp>
        <p:nvSpPr>
          <p:cNvPr id="10" name="TextBox 9"/>
          <p:cNvSpPr txBox="1"/>
          <p:nvPr/>
        </p:nvSpPr>
        <p:spPr>
          <a:xfrm>
            <a:off x="6553047" y="2441448"/>
            <a:ext cx="4769967" cy="3657600"/>
          </a:xfrm>
          <a:prstGeom prst="rect">
            <a:avLst/>
          </a:prstGeom>
          <a:noFill/>
        </p:spPr>
        <p:txBody>
          <a:bodyPr wrap="square" lIns="0" rIns="0" tIns="0" bIns="0">
            <a:spAutoFit/>
          </a:bodyPr>
          <a:lstStyle/>
          <a:p>
            <a:pPr marL="219456" indent="-219456">
              <a:spcBef>
                <a:spcPts val="1000"/>
              </a:spcBef>
              <a:buClr>
                <a:srgbClr val="2F7D5B"/>
              </a:buClr>
              <a:buFont typeface="Arial"/>
              <a:buChar char="•"/>
            </a:pPr>
            <a:r>
              <a:rPr sz="1450" b="0">
                <a:solidFill>
                  <a:srgbClr val="1F2A2E"/>
                </a:solidFill>
                <a:latin typeface="Calibri"/>
              </a:rPr>
              <a:t>Retrain with native-resolution validation, so checkpoints are selected at the scale the model is used.</a:t>
            </a:r>
          </a:p>
          <a:p>
            <a:pPr marL="219456" indent="-219456">
              <a:spcBef>
                <a:spcPts val="1000"/>
              </a:spcBef>
              <a:buClr>
                <a:srgbClr val="2F7D5B"/>
              </a:buClr>
              <a:buFont typeface="Arial"/>
              <a:buChar char="•"/>
            </a:pPr>
            <a:r>
              <a:rPr sz="1450" b="0">
                <a:solidFill>
                  <a:srgbClr val="1F2A2E"/>
                </a:solidFill>
                <a:latin typeface="Calibri"/>
              </a:rPr>
              <a:t>Report held-out accuracy from the evaluation notebook; the 16.8% IoU logged in training likely understates native-resolution performance.</a:t>
            </a:r>
          </a:p>
          <a:p>
            <a:pPr marL="219456" indent="-219456">
              <a:spcBef>
                <a:spcPts val="1000"/>
              </a:spcBef>
              <a:buClr>
                <a:srgbClr val="2F7D5B"/>
              </a:buClr>
              <a:buFont typeface="Arial"/>
              <a:buChar char="•"/>
            </a:pPr>
            <a:r>
              <a:rPr sz="1450" b="0">
                <a:solidFill>
                  <a:srgbClr val="1F2A2E"/>
                </a:solidFill>
                <a:latin typeface="Calibri"/>
              </a:rPr>
              <a:t>Tune gap bridging against ground truth — it can also create false links.</a:t>
            </a:r>
          </a:p>
          <a:p>
            <a:pPr marL="219456" indent="-219456">
              <a:spcBef>
                <a:spcPts val="1000"/>
              </a:spcBef>
              <a:buClr>
                <a:srgbClr val="2F7D5B"/>
              </a:buClr>
              <a:buFont typeface="Arial"/>
              <a:buChar char="•"/>
            </a:pPr>
            <a:r>
              <a:rPr sz="1450" b="0">
                <a:solidFill>
                  <a:srgbClr val="1F2A2E"/>
                </a:solidFill>
                <a:latin typeface="Calibri"/>
              </a:rPr>
              <a:t>Train a mobile CNN (LR-ASPP) on the same data for a fair accuracy–cost comparison; report APLS with the official SpaceNet code.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3261F"/>
        </a:solidFill>
        <a:effectLst/>
      </p:bgPr>
    </p:bg>
    <p:spTree>
      <p:nvGrpSpPr>
        <p:cNvPr id="1" name=""/>
        <p:cNvGrpSpPr/>
        <p:nvPr/>
      </p:nvGrpSpPr>
      <p:grpSpPr/>
      <p:sp>
        <p:nvSpPr>
          <p:cNvPr id="2" name="TextBox 1"/>
          <p:cNvSpPr txBox="1"/>
          <p:nvPr/>
        </p:nvSpPr>
        <p:spPr>
          <a:xfrm>
            <a:off x="640080" y="2377440"/>
            <a:ext cx="11094415" cy="914400"/>
          </a:xfrm>
          <a:prstGeom prst="rect">
            <a:avLst/>
          </a:prstGeom>
          <a:noFill/>
        </p:spPr>
        <p:txBody>
          <a:bodyPr wrap="square" lIns="0" rIns="0" tIns="0" bIns="0" anchor="t">
            <a:spAutoFit/>
          </a:bodyPr>
          <a:lstStyle/>
          <a:p>
            <a:pPr algn="l"/>
            <a:r>
              <a:rPr sz="4800" b="1" i="0">
                <a:solidFill>
                  <a:srgbClr val="FFFFFF"/>
                </a:solidFill>
                <a:latin typeface="Calibri"/>
              </a:rPr>
              <a:t>Thank you</a:t>
            </a:r>
          </a:p>
        </p:txBody>
      </p:sp>
      <p:sp>
        <p:nvSpPr>
          <p:cNvPr id="3" name="TextBox 2"/>
          <p:cNvSpPr txBox="1"/>
          <p:nvPr/>
        </p:nvSpPr>
        <p:spPr>
          <a:xfrm>
            <a:off x="640080" y="3337560"/>
            <a:ext cx="11094415" cy="457200"/>
          </a:xfrm>
          <a:prstGeom prst="rect">
            <a:avLst/>
          </a:prstGeom>
          <a:noFill/>
        </p:spPr>
        <p:txBody>
          <a:bodyPr wrap="square" lIns="0" rIns="0" tIns="0" bIns="0" anchor="t">
            <a:spAutoFit/>
          </a:bodyPr>
          <a:lstStyle/>
          <a:p>
            <a:pPr algn="l"/>
            <a:r>
              <a:rPr sz="2000" b="0" i="0">
                <a:solidFill>
                  <a:srgbClr val="B9CFC5"/>
                </a:solidFill>
                <a:latin typeface="Calibri"/>
              </a:rPr>
              <a:t>Questions and discussion</a:t>
            </a:r>
          </a:p>
        </p:txBody>
      </p:sp>
      <p:sp>
        <p:nvSpPr>
          <p:cNvPr id="4" name="TextBox 3"/>
          <p:cNvSpPr txBox="1"/>
          <p:nvPr/>
        </p:nvSpPr>
        <p:spPr>
          <a:xfrm>
            <a:off x="640080" y="5943600"/>
            <a:ext cx="11094415" cy="320040"/>
          </a:xfrm>
          <a:prstGeom prst="rect">
            <a:avLst/>
          </a:prstGeom>
          <a:noFill/>
        </p:spPr>
        <p:txBody>
          <a:bodyPr wrap="square" lIns="0" rIns="0" tIns="0" bIns="0" anchor="t">
            <a:spAutoFit/>
          </a:bodyPr>
          <a:lstStyle/>
          <a:p>
            <a:pPr algn="l"/>
            <a:r>
              <a:rPr sz="1300" b="0" i="0">
                <a:solidFill>
                  <a:srgbClr val="8FC1A9"/>
                </a:solidFill>
                <a:latin typeface="Calibri"/>
              </a:rPr>
              <a:t>github.com/Hrithik-Bhattacharya/Satellite-Imagery-based-Road-Network-Extraction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